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charts/chart1.xml" ContentType="application/vnd.openxmlformats-officedocument.drawingml.chart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FFFFFF"/>
                </a:solidFill>
                <a:latin typeface="Arial"/>
              </a:defRPr>
            </a:pPr>
            <a:r>
              <a:rPr sz="1200" b="0" i="0" u="none" strike="noStrike">
                <a:solidFill>
                  <a:srgbClr val="FFFFFF"/>
                </a:solidFill>
                <a:latin typeface="Arial"/>
              </a:rPr>
              <a:t>Net Recovery &amp; Recovery Rate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Baseline (Always Retry)</c:v>
                </c:pt>
              </c:strCache>
            </c:strRef>
          </c:tx>
          <c:spPr>
            <a:solidFill>
              <a:srgbClr val="6B7A9E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FFFFFF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Sheet1!$A$2:$A$3</c:f>
              <c:multiLvlStrCache>
                <c:ptCount val="2"/>
                <c:lvl>
                  <c:pt idx="0">
                    <c:v>Net Recovery (₹Cr)</c:v>
                  </c:pt>
                  <c:pt idx="1">
                    <c:v>Recovery Rate (%)</c:v>
                  </c:pt>
                </c:lvl>
              </c:multiLvlStrCache>
            </c:multiLvl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5.39</c:v>
                </c:pt>
                <c:pt idx="1">
                  <c:v>47.72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RecoverAI</c:v>
                </c:pt>
              </c:strCache>
            </c:strRef>
          </c:tx>
          <c:spPr>
            <a:solidFill>
              <a:srgbClr val="2DD4BF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FFFFFF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Sheet1!$A$2:$A$3</c:f>
              <c:multiLvlStrCache>
                <c:ptCount val="2"/>
                <c:lvl>
                  <c:pt idx="0">
                    <c:v>Net Recovery (₹Cr)</c:v>
                  </c:pt>
                  <c:pt idx="1">
                    <c:v>Recovery Rate (%)</c:v>
                  </c:pt>
                </c:lvl>
              </c:multiLvlStrCache>
            </c:multiLvlStrRef>
          </c:cat>
          <c:val>
            <c:numRef>
              <c:f>Sheet1!$C$2:$C$3</c:f>
              <c:numCache>
                <c:formatCode>General</c:formatCode>
                <c:ptCount val="2"/>
                <c:pt idx="0">
                  <c:v>6.03</c:v>
                </c:pt>
                <c:pt idx="1">
                  <c:v>54.5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900" u="none">
                  <a:solidFill>
                    <a:srgbClr val="FFFFFF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4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2A3555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9BA8C4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9525" cap="flat">
              <a:solidFill>
                <a:srgbClr val="2A3555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2A3555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9BA8C4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121A2E">
            <a:alpha val="0"/>
          </a:srgbClr>
        </a:solidFill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900">
              <a:solidFill>
                <a:srgbClr val="9BA8C4"/>
              </a:solidFill>
            </a:defRPr>
          </a:pPr>
          <a:endParaRPr lang="en-US"/>
        </a:p>
      </c:txPr>
    </c:legend>
    <c:plotVisOnly val="1"/>
    <c:dispBlanksAs val="span"/>
  </c:chart>
  <c:spPr>
    <a:solidFill>
      <a:srgbClr val="121A2E">
        <a:alpha val="0"/>
      </a:srgbClr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F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1188720"/>
            <a:ext cx="45720" cy="45720"/>
          </a:xfrm>
          <a:prstGeom prst="ellipse">
            <a:avLst/>
          </a:prstGeom>
          <a:solidFill>
            <a:srgbClr val="2DD4BF"/>
          </a:solidFill>
          <a:ln/>
        </p:spPr>
      </p:sp>
      <p:sp>
        <p:nvSpPr>
          <p:cNvPr id="3" name="Shape 1"/>
          <p:cNvSpPr/>
          <p:nvPr/>
        </p:nvSpPr>
        <p:spPr>
          <a:xfrm>
            <a:off x="2194560" y="822960"/>
            <a:ext cx="45720" cy="45720"/>
          </a:xfrm>
          <a:prstGeom prst="ellipse">
            <a:avLst/>
          </a:prstGeom>
          <a:solidFill>
            <a:srgbClr val="2DD4BF"/>
          </a:solidFill>
          <a:ln/>
        </p:spPr>
      </p:sp>
      <p:sp>
        <p:nvSpPr>
          <p:cNvPr id="4" name="Shape 2"/>
          <p:cNvSpPr/>
          <p:nvPr/>
        </p:nvSpPr>
        <p:spPr>
          <a:xfrm>
            <a:off x="3291840" y="1554480"/>
            <a:ext cx="45720" cy="45720"/>
          </a:xfrm>
          <a:prstGeom prst="ellipse">
            <a:avLst/>
          </a:prstGeom>
          <a:solidFill>
            <a:srgbClr val="2DD4BF"/>
          </a:solidFill>
          <a:ln/>
        </p:spPr>
      </p:sp>
      <p:sp>
        <p:nvSpPr>
          <p:cNvPr id="5" name="Shape 3"/>
          <p:cNvSpPr/>
          <p:nvPr/>
        </p:nvSpPr>
        <p:spPr>
          <a:xfrm>
            <a:off x="640080" y="2377440"/>
            <a:ext cx="45720" cy="45720"/>
          </a:xfrm>
          <a:prstGeom prst="ellipse">
            <a:avLst/>
          </a:prstGeom>
          <a:solidFill>
            <a:srgbClr val="2DD4BF"/>
          </a:solidFill>
          <a:ln/>
        </p:spPr>
      </p:sp>
      <p:sp>
        <p:nvSpPr>
          <p:cNvPr id="6" name="Shape 4"/>
          <p:cNvSpPr/>
          <p:nvPr/>
        </p:nvSpPr>
        <p:spPr>
          <a:xfrm>
            <a:off x="1737360" y="2011680"/>
            <a:ext cx="45720" cy="45720"/>
          </a:xfrm>
          <a:prstGeom prst="ellipse">
            <a:avLst/>
          </a:prstGeom>
          <a:solidFill>
            <a:srgbClr val="2DD4BF"/>
          </a:solidFill>
          <a:ln/>
        </p:spPr>
      </p:sp>
      <p:sp>
        <p:nvSpPr>
          <p:cNvPr id="7" name="Shape 5"/>
          <p:cNvSpPr/>
          <p:nvPr/>
        </p:nvSpPr>
        <p:spPr>
          <a:xfrm>
            <a:off x="10607040" y="1005840"/>
            <a:ext cx="45720" cy="45720"/>
          </a:xfrm>
          <a:prstGeom prst="ellipse">
            <a:avLst/>
          </a:prstGeom>
          <a:solidFill>
            <a:srgbClr val="2DD4BF"/>
          </a:solidFill>
          <a:ln/>
        </p:spPr>
      </p:sp>
      <p:sp>
        <p:nvSpPr>
          <p:cNvPr id="8" name="Shape 6"/>
          <p:cNvSpPr/>
          <p:nvPr/>
        </p:nvSpPr>
        <p:spPr>
          <a:xfrm>
            <a:off x="9509760" y="1554480"/>
            <a:ext cx="45720" cy="45720"/>
          </a:xfrm>
          <a:prstGeom prst="ellipse">
            <a:avLst/>
          </a:prstGeom>
          <a:solidFill>
            <a:srgbClr val="2DD4BF"/>
          </a:solidFill>
          <a:ln/>
        </p:spPr>
      </p:sp>
      <p:sp>
        <p:nvSpPr>
          <p:cNvPr id="9" name="Shape 7"/>
          <p:cNvSpPr/>
          <p:nvPr/>
        </p:nvSpPr>
        <p:spPr>
          <a:xfrm>
            <a:off x="11338560" y="2103120"/>
            <a:ext cx="45720" cy="45720"/>
          </a:xfrm>
          <a:prstGeom prst="ellipse">
            <a:avLst/>
          </a:prstGeom>
          <a:solidFill>
            <a:srgbClr val="2DD4BF"/>
          </a:solidFill>
          <a:ln/>
        </p:spPr>
      </p:sp>
      <p:sp>
        <p:nvSpPr>
          <p:cNvPr id="10" name="Shape 8"/>
          <p:cNvSpPr/>
          <p:nvPr/>
        </p:nvSpPr>
        <p:spPr>
          <a:xfrm>
            <a:off x="10058400" y="2651760"/>
            <a:ext cx="45720" cy="45720"/>
          </a:xfrm>
          <a:prstGeom prst="ellipse">
            <a:avLst/>
          </a:prstGeom>
          <a:solidFill>
            <a:srgbClr val="2DD4BF"/>
          </a:solidFill>
          <a:ln/>
        </p:spPr>
      </p:sp>
      <p:sp>
        <p:nvSpPr>
          <p:cNvPr id="11" name="Shape 9"/>
          <p:cNvSpPr/>
          <p:nvPr/>
        </p:nvSpPr>
        <p:spPr>
          <a:xfrm>
            <a:off x="10972800" y="731520"/>
            <a:ext cx="45720" cy="45720"/>
          </a:xfrm>
          <a:prstGeom prst="ellipse">
            <a:avLst/>
          </a:prstGeom>
          <a:solidFill>
            <a:srgbClr val="2DD4BF"/>
          </a:solidFill>
          <a:ln/>
        </p:spPr>
      </p:sp>
      <p:sp>
        <p:nvSpPr>
          <p:cNvPr id="12" name="Shape 10"/>
          <p:cNvSpPr/>
          <p:nvPr/>
        </p:nvSpPr>
        <p:spPr>
          <a:xfrm>
            <a:off x="1188720" y="5120640"/>
            <a:ext cx="45720" cy="45720"/>
          </a:xfrm>
          <a:prstGeom prst="ellipse">
            <a:avLst/>
          </a:prstGeom>
          <a:solidFill>
            <a:srgbClr val="2DD4BF"/>
          </a:solidFill>
          <a:ln/>
        </p:spPr>
      </p:sp>
      <p:sp>
        <p:nvSpPr>
          <p:cNvPr id="13" name="Shape 11"/>
          <p:cNvSpPr/>
          <p:nvPr/>
        </p:nvSpPr>
        <p:spPr>
          <a:xfrm>
            <a:off x="2377440" y="5669280"/>
            <a:ext cx="45720" cy="45720"/>
          </a:xfrm>
          <a:prstGeom prst="ellipse">
            <a:avLst/>
          </a:prstGeom>
          <a:solidFill>
            <a:srgbClr val="2DD4BF"/>
          </a:solidFill>
          <a:ln/>
        </p:spPr>
      </p:sp>
      <p:sp>
        <p:nvSpPr>
          <p:cNvPr id="14" name="Shape 12"/>
          <p:cNvSpPr/>
          <p:nvPr/>
        </p:nvSpPr>
        <p:spPr>
          <a:xfrm>
            <a:off x="731520" y="6217920"/>
            <a:ext cx="45720" cy="45720"/>
          </a:xfrm>
          <a:prstGeom prst="ellipse">
            <a:avLst/>
          </a:prstGeom>
          <a:solidFill>
            <a:srgbClr val="2DD4BF"/>
          </a:solidFill>
          <a:ln/>
        </p:spPr>
      </p:sp>
      <p:sp>
        <p:nvSpPr>
          <p:cNvPr id="15" name="Shape 13"/>
          <p:cNvSpPr/>
          <p:nvPr/>
        </p:nvSpPr>
        <p:spPr>
          <a:xfrm>
            <a:off x="10424160" y="5486400"/>
            <a:ext cx="45720" cy="45720"/>
          </a:xfrm>
          <a:prstGeom prst="ellipse">
            <a:avLst/>
          </a:prstGeom>
          <a:solidFill>
            <a:srgbClr val="2DD4BF"/>
          </a:solidFill>
          <a:ln/>
        </p:spPr>
      </p:sp>
      <p:sp>
        <p:nvSpPr>
          <p:cNvPr id="16" name="Shape 14"/>
          <p:cNvSpPr/>
          <p:nvPr/>
        </p:nvSpPr>
        <p:spPr>
          <a:xfrm>
            <a:off x="11247120" y="6035040"/>
            <a:ext cx="45720" cy="45720"/>
          </a:xfrm>
          <a:prstGeom prst="ellipse">
            <a:avLst/>
          </a:prstGeom>
          <a:solidFill>
            <a:srgbClr val="2DD4BF"/>
          </a:solidFill>
          <a:ln/>
        </p:spPr>
      </p:sp>
      <p:sp>
        <p:nvSpPr>
          <p:cNvPr id="17" name="Shape 15"/>
          <p:cNvSpPr/>
          <p:nvPr/>
        </p:nvSpPr>
        <p:spPr>
          <a:xfrm>
            <a:off x="9692640" y="6126480"/>
            <a:ext cx="45720" cy="45720"/>
          </a:xfrm>
          <a:prstGeom prst="ellipse">
            <a:avLst/>
          </a:prstGeom>
          <a:solidFill>
            <a:srgbClr val="2DD4BF"/>
          </a:solidFill>
          <a:ln/>
        </p:spPr>
      </p:sp>
      <p:sp>
        <p:nvSpPr>
          <p:cNvPr id="18" name="Shape 16"/>
          <p:cNvSpPr/>
          <p:nvPr/>
        </p:nvSpPr>
        <p:spPr>
          <a:xfrm>
            <a:off x="1005840" y="822960"/>
            <a:ext cx="1188720" cy="365760"/>
          </a:xfrm>
          <a:prstGeom prst="line">
            <a:avLst/>
          </a:prstGeom>
          <a:noFill/>
          <a:ln w="9525">
            <a:solidFill>
              <a:srgbClr val="2DD4BF">
                <a:alpha val="3000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2194560" y="822960"/>
            <a:ext cx="1097280" cy="731520"/>
          </a:xfrm>
          <a:prstGeom prst="line">
            <a:avLst/>
          </a:prstGeom>
          <a:noFill/>
          <a:ln w="9525">
            <a:solidFill>
              <a:srgbClr val="2DD4BF">
                <a:alpha val="30000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005840" y="1188720"/>
            <a:ext cx="731520" cy="822960"/>
          </a:xfrm>
          <a:prstGeom prst="line">
            <a:avLst/>
          </a:prstGeom>
          <a:noFill/>
          <a:ln w="9525">
            <a:solidFill>
              <a:srgbClr val="2DD4BF">
                <a:alpha val="30000"/>
              </a:srgbClr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40080" y="2011680"/>
            <a:ext cx="1097280" cy="365760"/>
          </a:xfrm>
          <a:prstGeom prst="line">
            <a:avLst/>
          </a:prstGeom>
          <a:noFill/>
          <a:ln w="9525">
            <a:solidFill>
              <a:srgbClr val="2DD4BF">
                <a:alpha val="3000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10607040" y="1005840"/>
            <a:ext cx="731520" cy="1097280"/>
          </a:xfrm>
          <a:prstGeom prst="line">
            <a:avLst/>
          </a:prstGeom>
          <a:noFill/>
          <a:ln w="9525">
            <a:solidFill>
              <a:srgbClr val="2DD4BF">
                <a:alpha val="30000"/>
              </a:srgbClr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9509760" y="1005840"/>
            <a:ext cx="1097280" cy="548640"/>
          </a:xfrm>
          <a:prstGeom prst="line">
            <a:avLst/>
          </a:prstGeom>
          <a:noFill/>
          <a:ln w="9525">
            <a:solidFill>
              <a:srgbClr val="2DD4BF">
                <a:alpha val="30000"/>
              </a:srgbClr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10058400" y="2103120"/>
            <a:ext cx="1280160" cy="548640"/>
          </a:xfrm>
          <a:prstGeom prst="line">
            <a:avLst/>
          </a:prstGeom>
          <a:noFill/>
          <a:ln w="9525">
            <a:solidFill>
              <a:srgbClr val="2DD4BF">
                <a:alpha val="30000"/>
              </a:srgbClr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1188720" y="5120640"/>
            <a:ext cx="1188720" cy="548640"/>
          </a:xfrm>
          <a:prstGeom prst="line">
            <a:avLst/>
          </a:prstGeom>
          <a:noFill/>
          <a:ln w="9525">
            <a:solidFill>
              <a:srgbClr val="2DD4BF">
                <a:alpha val="30000"/>
              </a:srgbClr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731520" y="5120640"/>
            <a:ext cx="457200" cy="1097280"/>
          </a:xfrm>
          <a:prstGeom prst="line">
            <a:avLst/>
          </a:prstGeom>
          <a:noFill/>
          <a:ln w="9525">
            <a:solidFill>
              <a:srgbClr val="2DD4BF">
                <a:alpha val="30000"/>
              </a:srgbClr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10424160" y="5486400"/>
            <a:ext cx="822960" cy="548640"/>
          </a:xfrm>
          <a:prstGeom prst="line">
            <a:avLst/>
          </a:prstGeom>
          <a:noFill/>
          <a:ln w="9525">
            <a:solidFill>
              <a:srgbClr val="2DD4BF">
                <a:alpha val="30000"/>
              </a:srgbClr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9692640" y="5486400"/>
            <a:ext cx="731520" cy="640080"/>
          </a:xfrm>
          <a:prstGeom prst="line">
            <a:avLst/>
          </a:prstGeom>
          <a:noFill/>
          <a:ln w="9525">
            <a:solidFill>
              <a:srgbClr val="2DD4BF">
                <a:alpha val="30000"/>
              </a:srgbClr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0" y="640080"/>
            <a:ext cx="1219169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spc="300" kern="0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RAZORPAY AI BUILDATHON 2026</a:t>
            </a:r>
            <a:endParaRPr lang="en-US" sz="1250" dirty="0"/>
          </a:p>
        </p:txBody>
      </p:sp>
      <p:sp>
        <p:nvSpPr>
          <p:cNvPr id="30" name="Text 28"/>
          <p:cNvSpPr txBox="1"/>
          <p:nvPr/>
        </p:nvSpPr>
        <p:spPr>
          <a:xfrm>
            <a:off x="0" y="2331720"/>
            <a:ext cx="12191695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600" b="1" spc="300" kern="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RECOVERAI</a:t>
            </a:r>
            <a:endParaRPr lang="en-US" sz="6600" dirty="0"/>
          </a:p>
        </p:txBody>
      </p:sp>
      <p:sp>
        <p:nvSpPr>
          <p:cNvPr id="31" name="Text 29"/>
          <p:cNvSpPr txBox="1"/>
          <p:nvPr/>
        </p:nvSpPr>
        <p:spPr>
          <a:xfrm>
            <a:off x="0" y="3456432"/>
            <a:ext cx="1219169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spc="200" kern="0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AI-POWERED PAYMENT RECOVERY DECISION ENGINE</a:t>
            </a:r>
            <a:endParaRPr lang="en-US" sz="1800" dirty="0"/>
          </a:p>
        </p:txBody>
      </p:sp>
      <p:sp>
        <p:nvSpPr>
          <p:cNvPr id="32" name="Text 30"/>
          <p:cNvSpPr txBox="1"/>
          <p:nvPr/>
        </p:nvSpPr>
        <p:spPr>
          <a:xfrm>
            <a:off x="1984248" y="4041648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9BA8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Intelligent recovery decisions with economic optimization, deterministic safety, and complete auditability.</a:t>
            </a:r>
            <a:endParaRPr lang="en-US" sz="1300" dirty="0"/>
          </a:p>
        </p:txBody>
      </p:sp>
      <p:sp>
        <p:nvSpPr>
          <p:cNvPr id="33" name="Shape 31"/>
          <p:cNvSpPr/>
          <p:nvPr/>
        </p:nvSpPr>
        <p:spPr>
          <a:xfrm>
            <a:off x="2651760" y="5074920"/>
            <a:ext cx="6885432" cy="1051560"/>
          </a:xfrm>
          <a:prstGeom prst="roundRect">
            <a:avLst>
              <a:gd name="adj" fmla="val 7826"/>
            </a:avLst>
          </a:prstGeom>
          <a:solidFill>
            <a:srgbClr val="121A2E"/>
          </a:solidFill>
          <a:ln w="9525">
            <a:solidFill>
              <a:srgbClr val="2A3555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3111703" y="5230368"/>
            <a:ext cx="457200" cy="457200"/>
          </a:xfrm>
          <a:prstGeom prst="ellipse">
            <a:avLst/>
          </a:prstGeom>
          <a:solidFill>
            <a:srgbClr val="F0554B"/>
          </a:solidFill>
          <a:ln/>
        </p:spPr>
      </p:sp>
      <p:sp>
        <p:nvSpPr>
          <p:cNvPr id="35" name="Text 33"/>
          <p:cNvSpPr txBox="1"/>
          <p:nvPr/>
        </p:nvSpPr>
        <p:spPr>
          <a:xfrm>
            <a:off x="3111703" y="523036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A0F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36" name="Text 34"/>
          <p:cNvSpPr txBox="1"/>
          <p:nvPr/>
        </p:nvSpPr>
        <p:spPr>
          <a:xfrm>
            <a:off x="2697480" y="5733288"/>
            <a:ext cx="128564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FAILED</a:t>
            </a:r>
            <a:endParaRPr lang="en-US" sz="950" dirty="0"/>
          </a:p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PAYMENT</a:t>
            </a:r>
            <a:endParaRPr lang="en-US" sz="950" dirty="0"/>
          </a:p>
        </p:txBody>
      </p:sp>
      <p:sp>
        <p:nvSpPr>
          <p:cNvPr id="37" name="Text 35"/>
          <p:cNvSpPr txBox="1"/>
          <p:nvPr/>
        </p:nvSpPr>
        <p:spPr>
          <a:xfrm>
            <a:off x="3882542" y="5349240"/>
            <a:ext cx="2926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6B7A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300" dirty="0"/>
          </a:p>
        </p:txBody>
      </p:sp>
      <p:sp>
        <p:nvSpPr>
          <p:cNvPr id="38" name="Shape 36"/>
          <p:cNvSpPr/>
          <p:nvPr/>
        </p:nvSpPr>
        <p:spPr>
          <a:xfrm>
            <a:off x="4488790" y="5230368"/>
            <a:ext cx="457200" cy="457200"/>
          </a:xfrm>
          <a:prstGeom prst="ellipse">
            <a:avLst/>
          </a:prstGeom>
          <a:solidFill>
            <a:srgbClr val="2DD4BF"/>
          </a:solidFill>
          <a:ln/>
        </p:spPr>
      </p:sp>
      <p:sp>
        <p:nvSpPr>
          <p:cNvPr id="39" name="Text 37"/>
          <p:cNvSpPr txBox="1"/>
          <p:nvPr/>
        </p:nvSpPr>
        <p:spPr>
          <a:xfrm>
            <a:off x="4488790" y="523036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A0F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40" name="Text 38"/>
          <p:cNvSpPr txBox="1"/>
          <p:nvPr/>
        </p:nvSpPr>
        <p:spPr>
          <a:xfrm>
            <a:off x="4074566" y="5733288"/>
            <a:ext cx="128564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</a:t>
            </a:r>
            <a:endParaRPr lang="en-US" sz="950" dirty="0"/>
          </a:p>
        </p:txBody>
      </p:sp>
      <p:sp>
        <p:nvSpPr>
          <p:cNvPr id="41" name="Text 39"/>
          <p:cNvSpPr txBox="1"/>
          <p:nvPr/>
        </p:nvSpPr>
        <p:spPr>
          <a:xfrm>
            <a:off x="5259629" y="5349240"/>
            <a:ext cx="2926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6B7A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300" dirty="0"/>
          </a:p>
        </p:txBody>
      </p:sp>
      <p:sp>
        <p:nvSpPr>
          <p:cNvPr id="42" name="Shape 40"/>
          <p:cNvSpPr/>
          <p:nvPr/>
        </p:nvSpPr>
        <p:spPr>
          <a:xfrm>
            <a:off x="5865876" y="5230368"/>
            <a:ext cx="457200" cy="457200"/>
          </a:xfrm>
          <a:prstGeom prst="ellipse">
            <a:avLst/>
          </a:prstGeom>
          <a:solidFill>
            <a:srgbClr val="2DD4BF"/>
          </a:solidFill>
          <a:ln/>
        </p:spPr>
      </p:sp>
      <p:sp>
        <p:nvSpPr>
          <p:cNvPr id="43" name="Text 41"/>
          <p:cNvSpPr txBox="1"/>
          <p:nvPr/>
        </p:nvSpPr>
        <p:spPr>
          <a:xfrm>
            <a:off x="5865876" y="523036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A0F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44" name="Text 42"/>
          <p:cNvSpPr txBox="1"/>
          <p:nvPr/>
        </p:nvSpPr>
        <p:spPr>
          <a:xfrm>
            <a:off x="5451653" y="5733288"/>
            <a:ext cx="128564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OPTIMIZE</a:t>
            </a:r>
            <a:endParaRPr lang="en-US" sz="950" dirty="0"/>
          </a:p>
        </p:txBody>
      </p:sp>
      <p:sp>
        <p:nvSpPr>
          <p:cNvPr id="45" name="Text 43"/>
          <p:cNvSpPr txBox="1"/>
          <p:nvPr/>
        </p:nvSpPr>
        <p:spPr>
          <a:xfrm>
            <a:off x="6636715" y="5349240"/>
            <a:ext cx="2926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6B7A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300" dirty="0"/>
          </a:p>
        </p:txBody>
      </p:sp>
      <p:sp>
        <p:nvSpPr>
          <p:cNvPr id="46" name="Shape 44"/>
          <p:cNvSpPr/>
          <p:nvPr/>
        </p:nvSpPr>
        <p:spPr>
          <a:xfrm>
            <a:off x="7242962" y="5230368"/>
            <a:ext cx="457200" cy="457200"/>
          </a:xfrm>
          <a:prstGeom prst="ellipse">
            <a:avLst/>
          </a:prstGeom>
          <a:solidFill>
            <a:srgbClr val="F5A623"/>
          </a:solidFill>
          <a:ln/>
        </p:spPr>
      </p:sp>
      <p:sp>
        <p:nvSpPr>
          <p:cNvPr id="47" name="Text 45"/>
          <p:cNvSpPr txBox="1"/>
          <p:nvPr/>
        </p:nvSpPr>
        <p:spPr>
          <a:xfrm>
            <a:off x="7242962" y="523036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A0F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48" name="Text 46"/>
          <p:cNvSpPr txBox="1"/>
          <p:nvPr/>
        </p:nvSpPr>
        <p:spPr>
          <a:xfrm>
            <a:off x="6828739" y="5733288"/>
            <a:ext cx="128564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</a:t>
            </a:r>
            <a:endParaRPr lang="en-US" sz="950" dirty="0"/>
          </a:p>
        </p:txBody>
      </p:sp>
      <p:sp>
        <p:nvSpPr>
          <p:cNvPr id="49" name="Text 47"/>
          <p:cNvSpPr txBox="1"/>
          <p:nvPr/>
        </p:nvSpPr>
        <p:spPr>
          <a:xfrm>
            <a:off x="8013802" y="5349240"/>
            <a:ext cx="2926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6B7A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300" dirty="0"/>
          </a:p>
        </p:txBody>
      </p:sp>
      <p:sp>
        <p:nvSpPr>
          <p:cNvPr id="50" name="Shape 48"/>
          <p:cNvSpPr/>
          <p:nvPr/>
        </p:nvSpPr>
        <p:spPr>
          <a:xfrm>
            <a:off x="8620049" y="5230368"/>
            <a:ext cx="457200" cy="457200"/>
          </a:xfrm>
          <a:prstGeom prst="ellipse">
            <a:avLst/>
          </a:prstGeom>
          <a:solidFill>
            <a:srgbClr val="34D399"/>
          </a:solidFill>
          <a:ln/>
        </p:spPr>
      </p:sp>
      <p:sp>
        <p:nvSpPr>
          <p:cNvPr id="51" name="Text 49"/>
          <p:cNvSpPr txBox="1"/>
          <p:nvPr/>
        </p:nvSpPr>
        <p:spPr>
          <a:xfrm>
            <a:off x="8620049" y="523036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A0F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400" dirty="0"/>
          </a:p>
        </p:txBody>
      </p:sp>
      <p:sp>
        <p:nvSpPr>
          <p:cNvPr id="52" name="Text 50"/>
          <p:cNvSpPr txBox="1"/>
          <p:nvPr/>
        </p:nvSpPr>
        <p:spPr>
          <a:xfrm>
            <a:off x="8205826" y="5733288"/>
            <a:ext cx="128564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RECOVER</a:t>
            </a:r>
            <a:endParaRPr lang="en-US" sz="950" dirty="0"/>
          </a:p>
        </p:txBody>
      </p:sp>
      <p:sp>
        <p:nvSpPr>
          <p:cNvPr id="53" name="Text 51"/>
          <p:cNvSpPr txBox="1"/>
          <p:nvPr/>
        </p:nvSpPr>
        <p:spPr>
          <a:xfrm>
            <a:off x="0" y="6355080"/>
            <a:ext cx="1219169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i="1" dirty="0">
                <a:solidFill>
                  <a:srgbClr val="6B7A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 recommends.  Deterministic policy controls.  Every decision is audited.</a:t>
            </a:r>
            <a:endParaRPr lang="en-US" sz="11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F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— THE PROBLEM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Every Failed Payment Is Not the Same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32308" y="1965960"/>
            <a:ext cx="3429000" cy="2331720"/>
          </a:xfrm>
          <a:prstGeom prst="roundRect">
            <a:avLst>
              <a:gd name="adj" fmla="val 3529"/>
            </a:avLst>
          </a:prstGeom>
          <a:solidFill>
            <a:srgbClr val="121A2E"/>
          </a:solidFill>
          <a:ln w="9525">
            <a:solidFill>
              <a:srgbClr val="2A3555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906628" y="2167128"/>
            <a:ext cx="2880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50" kern="0" dirty="0">
                <a:solidFill>
                  <a:srgbClr val="9BA8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PAYMENT A</a:t>
            </a:r>
            <a:endParaRPr lang="en-US" sz="1150" dirty="0"/>
          </a:p>
        </p:txBody>
      </p:sp>
      <p:sp>
        <p:nvSpPr>
          <p:cNvPr id="6" name="Text 4"/>
          <p:cNvSpPr txBox="1"/>
          <p:nvPr/>
        </p:nvSpPr>
        <p:spPr>
          <a:xfrm>
            <a:off x="906628" y="2441448"/>
            <a:ext cx="2880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₹2,000</a:t>
            </a:r>
            <a:endParaRPr lang="en-US" sz="3400" dirty="0"/>
          </a:p>
        </p:txBody>
      </p:sp>
      <p:sp>
        <p:nvSpPr>
          <p:cNvPr id="7" name="Text 5"/>
          <p:cNvSpPr txBox="1"/>
          <p:nvPr/>
        </p:nvSpPr>
        <p:spPr>
          <a:xfrm>
            <a:off x="906628" y="3081528"/>
            <a:ext cx="2880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9BA8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Bank Timeout</a:t>
            </a:r>
            <a:endParaRPr lang="en-US" sz="1250" dirty="0"/>
          </a:p>
        </p:txBody>
      </p:sp>
      <p:sp>
        <p:nvSpPr>
          <p:cNvPr id="8" name="Text 6"/>
          <p:cNvSpPr txBox="1"/>
          <p:nvPr/>
        </p:nvSpPr>
        <p:spPr>
          <a:xfrm>
            <a:off x="906628" y="3337560"/>
            <a:ext cx="2880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9BA8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Recovery Probability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906628" y="3730752"/>
            <a:ext cx="2880360" cy="365760"/>
          </a:xfrm>
          <a:prstGeom prst="roundRect">
            <a:avLst>
              <a:gd name="adj" fmla="val 50000"/>
            </a:avLst>
          </a:prstGeom>
          <a:solidFill>
            <a:srgbClr val="34D399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906628" y="3730752"/>
            <a:ext cx="2880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50" kern="0" dirty="0">
                <a:solidFill>
                  <a:srgbClr val="0A0F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Retry Candidate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381348" y="1965960"/>
            <a:ext cx="3429000" cy="2331720"/>
          </a:xfrm>
          <a:prstGeom prst="roundRect">
            <a:avLst>
              <a:gd name="adj" fmla="val 3529"/>
            </a:avLst>
          </a:prstGeom>
          <a:solidFill>
            <a:srgbClr val="121A2E"/>
          </a:solidFill>
          <a:ln w="9525">
            <a:solidFill>
              <a:srgbClr val="2A3555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12" name="Text 10"/>
          <p:cNvSpPr txBox="1"/>
          <p:nvPr/>
        </p:nvSpPr>
        <p:spPr>
          <a:xfrm>
            <a:off x="4655668" y="2167128"/>
            <a:ext cx="2880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50" kern="0" dirty="0">
                <a:solidFill>
                  <a:srgbClr val="9BA8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PAYMENT B</a:t>
            </a:r>
            <a:endParaRPr lang="en-US" sz="1150" dirty="0"/>
          </a:p>
        </p:txBody>
      </p:sp>
      <p:sp>
        <p:nvSpPr>
          <p:cNvPr id="13" name="Text 11"/>
          <p:cNvSpPr txBox="1"/>
          <p:nvPr/>
        </p:nvSpPr>
        <p:spPr>
          <a:xfrm>
            <a:off x="4655668" y="2441448"/>
            <a:ext cx="2880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₹2,500</a:t>
            </a:r>
            <a:endParaRPr lang="en-US" sz="3400" dirty="0"/>
          </a:p>
        </p:txBody>
      </p:sp>
      <p:sp>
        <p:nvSpPr>
          <p:cNvPr id="14" name="Text 12"/>
          <p:cNvSpPr txBox="1"/>
          <p:nvPr/>
        </p:nvSpPr>
        <p:spPr>
          <a:xfrm>
            <a:off x="4655668" y="3081528"/>
            <a:ext cx="2880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9BA8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Ambiguous Failure</a:t>
            </a:r>
            <a:endParaRPr lang="en-US" sz="1250" dirty="0"/>
          </a:p>
        </p:txBody>
      </p:sp>
      <p:sp>
        <p:nvSpPr>
          <p:cNvPr id="15" name="Text 13"/>
          <p:cNvSpPr txBox="1"/>
          <p:nvPr/>
        </p:nvSpPr>
        <p:spPr>
          <a:xfrm>
            <a:off x="4655668" y="3337560"/>
            <a:ext cx="2880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9BA8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 Confidence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4655668" y="3730752"/>
            <a:ext cx="2880360" cy="365760"/>
          </a:xfrm>
          <a:prstGeom prst="roundRect">
            <a:avLst>
              <a:gd name="adj" fmla="val 50000"/>
            </a:avLst>
          </a:prstGeom>
          <a:solidFill>
            <a:srgbClr val="F5A623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4655668" y="3730752"/>
            <a:ext cx="2880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50" kern="0" dirty="0">
                <a:solidFill>
                  <a:srgbClr val="0A0F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Human Review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8130388" y="1965960"/>
            <a:ext cx="3429000" cy="2331720"/>
          </a:xfrm>
          <a:prstGeom prst="roundRect">
            <a:avLst>
              <a:gd name="adj" fmla="val 3529"/>
            </a:avLst>
          </a:prstGeom>
          <a:solidFill>
            <a:srgbClr val="121A2E"/>
          </a:solidFill>
          <a:ln w="9525">
            <a:solidFill>
              <a:srgbClr val="2A3555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19" name="Text 17"/>
          <p:cNvSpPr txBox="1"/>
          <p:nvPr/>
        </p:nvSpPr>
        <p:spPr>
          <a:xfrm>
            <a:off x="8404708" y="2167128"/>
            <a:ext cx="2880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50" kern="0" dirty="0">
                <a:solidFill>
                  <a:srgbClr val="9BA8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PAYMENT C</a:t>
            </a:r>
            <a:endParaRPr lang="en-US" sz="1150" dirty="0"/>
          </a:p>
        </p:txBody>
      </p:sp>
      <p:sp>
        <p:nvSpPr>
          <p:cNvPr id="20" name="Text 18"/>
          <p:cNvSpPr txBox="1"/>
          <p:nvPr/>
        </p:nvSpPr>
        <p:spPr>
          <a:xfrm>
            <a:off x="8404708" y="2441448"/>
            <a:ext cx="2880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₹25,000</a:t>
            </a:r>
            <a:endParaRPr lang="en-US" sz="3400" dirty="0"/>
          </a:p>
        </p:txBody>
      </p:sp>
      <p:sp>
        <p:nvSpPr>
          <p:cNvPr id="21" name="Text 19"/>
          <p:cNvSpPr txBox="1"/>
          <p:nvPr/>
        </p:nvSpPr>
        <p:spPr>
          <a:xfrm>
            <a:off x="8404708" y="3081528"/>
            <a:ext cx="2880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9BA8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Value</a:t>
            </a:r>
            <a:endParaRPr lang="en-US" sz="1250" dirty="0"/>
          </a:p>
        </p:txBody>
      </p:sp>
      <p:sp>
        <p:nvSpPr>
          <p:cNvPr id="22" name="Text 20"/>
          <p:cNvSpPr txBox="1"/>
          <p:nvPr/>
        </p:nvSpPr>
        <p:spPr>
          <a:xfrm>
            <a:off x="8404708" y="3337560"/>
            <a:ext cx="2880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9BA8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Elevated Risk</a:t>
            </a:r>
            <a:endParaRPr lang="en-US" sz="1250" dirty="0"/>
          </a:p>
        </p:txBody>
      </p:sp>
      <p:sp>
        <p:nvSpPr>
          <p:cNvPr id="23" name="Shape 21"/>
          <p:cNvSpPr/>
          <p:nvPr/>
        </p:nvSpPr>
        <p:spPr>
          <a:xfrm>
            <a:off x="8404708" y="3730752"/>
            <a:ext cx="2880360" cy="365760"/>
          </a:xfrm>
          <a:prstGeom prst="roundRect">
            <a:avLst>
              <a:gd name="adj" fmla="val 50000"/>
            </a:avLst>
          </a:prstGeom>
          <a:solidFill>
            <a:srgbClr val="F5A623"/>
          </a:solidFill>
          <a:ln/>
        </p:spPr>
      </p:sp>
      <p:sp>
        <p:nvSpPr>
          <p:cNvPr id="24" name="Text 22"/>
          <p:cNvSpPr txBox="1"/>
          <p:nvPr/>
        </p:nvSpPr>
        <p:spPr>
          <a:xfrm>
            <a:off x="8404708" y="3730752"/>
            <a:ext cx="2880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50" kern="0" dirty="0">
                <a:solidFill>
                  <a:srgbClr val="0A0F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Human Review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632308" y="4617720"/>
            <a:ext cx="10927080" cy="777240"/>
          </a:xfrm>
          <a:prstGeom prst="roundRect">
            <a:avLst>
              <a:gd name="adj" fmla="val 10588"/>
            </a:avLst>
          </a:prstGeom>
          <a:solidFill>
            <a:srgbClr val="182140"/>
          </a:solidFill>
          <a:ln w="9525">
            <a:solidFill>
              <a:srgbClr val="2A3555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26" name="Text 24"/>
          <p:cNvSpPr txBox="1"/>
          <p:nvPr/>
        </p:nvSpPr>
        <p:spPr>
          <a:xfrm>
            <a:off x="632308" y="4617720"/>
            <a:ext cx="10927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2DD4B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Blind Retry  ≠  Intelligent Recovery</a:t>
            </a:r>
            <a:endParaRPr lang="en-US" sz="2400" dirty="0"/>
          </a:p>
        </p:txBody>
      </p:sp>
      <p:sp>
        <p:nvSpPr>
          <p:cNvPr id="27" name="Text 25"/>
          <p:cNvSpPr txBox="1"/>
          <p:nvPr/>
        </p:nvSpPr>
        <p:spPr>
          <a:xfrm>
            <a:off x="632308" y="5623560"/>
            <a:ext cx="10927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9BA8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Recovering revenue is not simply about retrying more. It is about choosing the right intervention for the right payment.</a:t>
            </a:r>
            <a:endParaRPr lang="en-US" sz="1400" dirty="0"/>
          </a:p>
        </p:txBody>
      </p:sp>
      <p:sp>
        <p:nvSpPr>
          <p:cNvPr id="28" name="Text 26"/>
          <p:cNvSpPr txBox="1"/>
          <p:nvPr/>
        </p:nvSpPr>
        <p:spPr>
          <a:xfrm>
            <a:off x="457200" y="6528816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6B7A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RECOVERAI</a:t>
            </a:r>
            <a:endParaRPr lang="en-US" sz="900" dirty="0"/>
          </a:p>
        </p:txBody>
      </p:sp>
      <p:sp>
        <p:nvSpPr>
          <p:cNvPr id="29" name="Text 27"/>
          <p:cNvSpPr txBox="1"/>
          <p:nvPr/>
        </p:nvSpPr>
        <p:spPr>
          <a:xfrm>
            <a:off x="8074152" y="6528816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A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Razorpay AI Buildathon 2026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F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— THE SOLUTION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1064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2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RecoverAI Turns Failed Payments Into</a:t>
            </a:r>
            <a:endParaRPr lang="en-US" sz="27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2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Controlled Recovery Decisions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48640" y="2331720"/>
            <a:ext cx="1676400" cy="2834640"/>
          </a:xfrm>
          <a:prstGeom prst="roundRect">
            <a:avLst>
              <a:gd name="adj" fmla="val 4909"/>
            </a:avLst>
          </a:prstGeom>
          <a:solidFill>
            <a:srgbClr val="121A2E"/>
          </a:solidFill>
          <a:ln w="9525">
            <a:solidFill>
              <a:srgbClr val="2A3555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103376" y="2551176"/>
            <a:ext cx="566928" cy="566928"/>
          </a:xfrm>
          <a:prstGeom prst="ellipse">
            <a:avLst/>
          </a:prstGeom>
          <a:solidFill>
            <a:srgbClr val="F0554B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1103376" y="2551176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A0F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800" dirty="0"/>
          </a:p>
        </p:txBody>
      </p:sp>
      <p:sp>
        <p:nvSpPr>
          <p:cNvPr id="7" name="Text 5"/>
          <p:cNvSpPr txBox="1"/>
          <p:nvPr/>
        </p:nvSpPr>
        <p:spPr>
          <a:xfrm>
            <a:off x="621792" y="3246120"/>
            <a:ext cx="153009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FAILED</a:t>
            </a:r>
            <a:endParaRPr lang="en-US" sz="1250" dirty="0"/>
          </a:p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PAYMENT</a:t>
            </a:r>
            <a:endParaRPr lang="en-US" sz="1250" dirty="0"/>
          </a:p>
        </p:txBody>
      </p:sp>
      <p:sp>
        <p:nvSpPr>
          <p:cNvPr id="8" name="Text 6"/>
          <p:cNvSpPr txBox="1"/>
          <p:nvPr/>
        </p:nvSpPr>
        <p:spPr>
          <a:xfrm>
            <a:off x="658368" y="3840480"/>
            <a:ext cx="1456944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70" dirty="0">
                <a:solidFill>
                  <a:srgbClr val="9BA8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transaction attempt</a:t>
            </a:r>
            <a:endParaRPr lang="en-US" sz="970" dirty="0"/>
          </a:p>
          <a:p>
            <a:pPr algn="ctr" indent="0" marL="0">
              <a:buNone/>
            </a:pPr>
            <a:r>
              <a:rPr lang="en-US" sz="970" dirty="0">
                <a:solidFill>
                  <a:srgbClr val="9BA8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that did not settle.</a:t>
            </a:r>
            <a:endParaRPr lang="en-US" sz="970" dirty="0"/>
          </a:p>
        </p:txBody>
      </p:sp>
      <p:sp>
        <p:nvSpPr>
          <p:cNvPr id="9" name="Text 7"/>
          <p:cNvSpPr txBox="1"/>
          <p:nvPr/>
        </p:nvSpPr>
        <p:spPr>
          <a:xfrm>
            <a:off x="2234184" y="2715768"/>
            <a:ext cx="182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6B7A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2426208" y="2331720"/>
            <a:ext cx="1676400" cy="2834640"/>
          </a:xfrm>
          <a:prstGeom prst="roundRect">
            <a:avLst>
              <a:gd name="adj" fmla="val 4909"/>
            </a:avLst>
          </a:prstGeom>
          <a:solidFill>
            <a:srgbClr val="121A2E"/>
          </a:solidFill>
          <a:ln w="9525">
            <a:solidFill>
              <a:srgbClr val="2A3555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2980944" y="2551176"/>
            <a:ext cx="566928" cy="566928"/>
          </a:xfrm>
          <a:prstGeom prst="ellipse">
            <a:avLst/>
          </a:prstGeom>
          <a:solidFill>
            <a:srgbClr val="2DD4BF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2980944" y="2551176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A0F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800" dirty="0"/>
          </a:p>
        </p:txBody>
      </p:sp>
      <p:sp>
        <p:nvSpPr>
          <p:cNvPr id="13" name="Text 11"/>
          <p:cNvSpPr txBox="1"/>
          <p:nvPr/>
        </p:nvSpPr>
        <p:spPr>
          <a:xfrm>
            <a:off x="2499360" y="3246120"/>
            <a:ext cx="153009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</a:t>
            </a:r>
            <a:endParaRPr lang="en-US" sz="1250" dirty="0"/>
          </a:p>
        </p:txBody>
      </p:sp>
      <p:sp>
        <p:nvSpPr>
          <p:cNvPr id="14" name="Text 12"/>
          <p:cNvSpPr txBox="1"/>
          <p:nvPr/>
        </p:nvSpPr>
        <p:spPr>
          <a:xfrm>
            <a:off x="2535936" y="3840480"/>
            <a:ext cx="1456944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70" dirty="0">
                <a:solidFill>
                  <a:srgbClr val="9BA8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Estimate recovery</a:t>
            </a:r>
            <a:endParaRPr lang="en-US" sz="970" dirty="0"/>
          </a:p>
          <a:p>
            <a:pPr algn="ctr" indent="0" marL="0">
              <a:buNone/>
            </a:pPr>
            <a:r>
              <a:rPr lang="en-US" sz="970" dirty="0">
                <a:solidFill>
                  <a:srgbClr val="9BA8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probability with XGBoost.</a:t>
            </a:r>
            <a:endParaRPr lang="en-US" sz="970" dirty="0"/>
          </a:p>
        </p:txBody>
      </p:sp>
      <p:sp>
        <p:nvSpPr>
          <p:cNvPr id="15" name="Text 13"/>
          <p:cNvSpPr txBox="1"/>
          <p:nvPr/>
        </p:nvSpPr>
        <p:spPr>
          <a:xfrm>
            <a:off x="4111752" y="2715768"/>
            <a:ext cx="182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6B7A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4303776" y="2331720"/>
            <a:ext cx="1676400" cy="2834640"/>
          </a:xfrm>
          <a:prstGeom prst="roundRect">
            <a:avLst>
              <a:gd name="adj" fmla="val 4909"/>
            </a:avLst>
          </a:prstGeom>
          <a:solidFill>
            <a:srgbClr val="121A2E"/>
          </a:solidFill>
          <a:ln w="9525">
            <a:solidFill>
              <a:srgbClr val="2A3555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858512" y="2551176"/>
            <a:ext cx="566928" cy="566928"/>
          </a:xfrm>
          <a:prstGeom prst="ellipse">
            <a:avLst/>
          </a:prstGeom>
          <a:solidFill>
            <a:srgbClr val="2DD4BF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4858512" y="2551176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A0F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800" dirty="0"/>
          </a:p>
        </p:txBody>
      </p:sp>
      <p:sp>
        <p:nvSpPr>
          <p:cNvPr id="19" name="Text 17"/>
          <p:cNvSpPr txBox="1"/>
          <p:nvPr/>
        </p:nvSpPr>
        <p:spPr>
          <a:xfrm>
            <a:off x="4376928" y="3246120"/>
            <a:ext cx="153009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OPTIMIZE</a:t>
            </a:r>
            <a:endParaRPr lang="en-US" sz="1250" dirty="0"/>
          </a:p>
        </p:txBody>
      </p:sp>
      <p:sp>
        <p:nvSpPr>
          <p:cNvPr id="20" name="Text 18"/>
          <p:cNvSpPr txBox="1"/>
          <p:nvPr/>
        </p:nvSpPr>
        <p:spPr>
          <a:xfrm>
            <a:off x="4413504" y="3840480"/>
            <a:ext cx="1456944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70" dirty="0">
                <a:solidFill>
                  <a:srgbClr val="9BA8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Evaluate Retry, Reminder</a:t>
            </a:r>
            <a:endParaRPr lang="en-US" sz="970" dirty="0"/>
          </a:p>
          <a:p>
            <a:pPr algn="ctr" indent="0" marL="0">
              <a:buNone/>
            </a:pPr>
            <a:r>
              <a:rPr lang="en-US" sz="970" dirty="0">
                <a:solidFill>
                  <a:srgbClr val="9BA8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 Escalation.</a:t>
            </a:r>
            <a:endParaRPr lang="en-US" sz="970" dirty="0"/>
          </a:p>
        </p:txBody>
      </p:sp>
      <p:sp>
        <p:nvSpPr>
          <p:cNvPr id="21" name="Text 19"/>
          <p:cNvSpPr txBox="1"/>
          <p:nvPr/>
        </p:nvSpPr>
        <p:spPr>
          <a:xfrm>
            <a:off x="5989320" y="2715768"/>
            <a:ext cx="182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6B7A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6181344" y="2331720"/>
            <a:ext cx="1676400" cy="2834640"/>
          </a:xfrm>
          <a:prstGeom prst="roundRect">
            <a:avLst>
              <a:gd name="adj" fmla="val 4909"/>
            </a:avLst>
          </a:prstGeom>
          <a:solidFill>
            <a:srgbClr val="121A2E"/>
          </a:solidFill>
          <a:ln w="9525">
            <a:solidFill>
              <a:srgbClr val="2A3555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6736080" y="2551176"/>
            <a:ext cx="566928" cy="566928"/>
          </a:xfrm>
          <a:prstGeom prst="ellipse">
            <a:avLst/>
          </a:prstGeom>
          <a:solidFill>
            <a:srgbClr val="F5A623"/>
          </a:solidFill>
          <a:ln/>
        </p:spPr>
      </p:sp>
      <p:sp>
        <p:nvSpPr>
          <p:cNvPr id="24" name="Text 22"/>
          <p:cNvSpPr txBox="1"/>
          <p:nvPr/>
        </p:nvSpPr>
        <p:spPr>
          <a:xfrm>
            <a:off x="6736080" y="2551176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A0F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800" dirty="0"/>
          </a:p>
        </p:txBody>
      </p:sp>
      <p:sp>
        <p:nvSpPr>
          <p:cNvPr id="25" name="Text 23"/>
          <p:cNvSpPr txBox="1"/>
          <p:nvPr/>
        </p:nvSpPr>
        <p:spPr>
          <a:xfrm>
            <a:off x="6254496" y="3246120"/>
            <a:ext cx="153009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</a:t>
            </a:r>
            <a:endParaRPr lang="en-US" sz="1250" dirty="0"/>
          </a:p>
        </p:txBody>
      </p:sp>
      <p:sp>
        <p:nvSpPr>
          <p:cNvPr id="26" name="Text 24"/>
          <p:cNvSpPr txBox="1"/>
          <p:nvPr/>
        </p:nvSpPr>
        <p:spPr>
          <a:xfrm>
            <a:off x="6291072" y="3840480"/>
            <a:ext cx="1456944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70" dirty="0">
                <a:solidFill>
                  <a:srgbClr val="9BA8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Apply deterministic</a:t>
            </a:r>
            <a:endParaRPr lang="en-US" sz="970" dirty="0"/>
          </a:p>
          <a:p>
            <a:pPr algn="ctr" indent="0" marL="0">
              <a:buNone/>
            </a:pPr>
            <a:r>
              <a:rPr lang="en-US" sz="970" dirty="0">
                <a:solidFill>
                  <a:srgbClr val="9BA8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safety policies.</a:t>
            </a:r>
            <a:endParaRPr lang="en-US" sz="970" dirty="0"/>
          </a:p>
        </p:txBody>
      </p:sp>
      <p:sp>
        <p:nvSpPr>
          <p:cNvPr id="27" name="Text 25"/>
          <p:cNvSpPr txBox="1"/>
          <p:nvPr/>
        </p:nvSpPr>
        <p:spPr>
          <a:xfrm>
            <a:off x="7866888" y="2715768"/>
            <a:ext cx="182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6B7A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300" dirty="0"/>
          </a:p>
        </p:txBody>
      </p:sp>
      <p:sp>
        <p:nvSpPr>
          <p:cNvPr id="28" name="Shape 26"/>
          <p:cNvSpPr/>
          <p:nvPr/>
        </p:nvSpPr>
        <p:spPr>
          <a:xfrm>
            <a:off x="8058912" y="2331720"/>
            <a:ext cx="1676400" cy="2834640"/>
          </a:xfrm>
          <a:prstGeom prst="roundRect">
            <a:avLst>
              <a:gd name="adj" fmla="val 4909"/>
            </a:avLst>
          </a:prstGeom>
          <a:solidFill>
            <a:srgbClr val="121A2E"/>
          </a:solidFill>
          <a:ln w="9525">
            <a:solidFill>
              <a:srgbClr val="2A3555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8613648" y="2551176"/>
            <a:ext cx="566928" cy="566928"/>
          </a:xfrm>
          <a:prstGeom prst="ellipse">
            <a:avLst/>
          </a:prstGeom>
          <a:solidFill>
            <a:srgbClr val="34D399"/>
          </a:solidFill>
          <a:ln/>
        </p:spPr>
      </p:sp>
      <p:sp>
        <p:nvSpPr>
          <p:cNvPr id="30" name="Text 28"/>
          <p:cNvSpPr txBox="1"/>
          <p:nvPr/>
        </p:nvSpPr>
        <p:spPr>
          <a:xfrm>
            <a:off x="8613648" y="2551176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A0F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800" dirty="0"/>
          </a:p>
        </p:txBody>
      </p:sp>
      <p:sp>
        <p:nvSpPr>
          <p:cNvPr id="31" name="Text 29"/>
          <p:cNvSpPr txBox="1"/>
          <p:nvPr/>
        </p:nvSpPr>
        <p:spPr>
          <a:xfrm>
            <a:off x="8132064" y="3246120"/>
            <a:ext cx="153009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RECOVER /</a:t>
            </a:r>
            <a:endParaRPr lang="en-US" sz="1250" dirty="0"/>
          </a:p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</a:t>
            </a:r>
            <a:endParaRPr lang="en-US" sz="1250" dirty="0"/>
          </a:p>
        </p:txBody>
      </p:sp>
      <p:sp>
        <p:nvSpPr>
          <p:cNvPr id="32" name="Text 30"/>
          <p:cNvSpPr txBox="1"/>
          <p:nvPr/>
        </p:nvSpPr>
        <p:spPr>
          <a:xfrm>
            <a:off x="8168640" y="3840480"/>
            <a:ext cx="1456944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70" dirty="0">
                <a:solidFill>
                  <a:srgbClr val="9BA8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 approved actions</a:t>
            </a:r>
            <a:endParaRPr lang="en-US" sz="970" dirty="0"/>
          </a:p>
          <a:p>
            <a:pPr algn="ctr" indent="0" marL="0">
              <a:buNone/>
            </a:pPr>
            <a:r>
              <a:rPr lang="en-US" sz="970" dirty="0">
                <a:solidFill>
                  <a:srgbClr val="9BA8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 route to humans.</a:t>
            </a:r>
            <a:endParaRPr lang="en-US" sz="970" dirty="0"/>
          </a:p>
        </p:txBody>
      </p:sp>
      <p:sp>
        <p:nvSpPr>
          <p:cNvPr id="33" name="Text 31"/>
          <p:cNvSpPr txBox="1"/>
          <p:nvPr/>
        </p:nvSpPr>
        <p:spPr>
          <a:xfrm>
            <a:off x="9744456" y="2715768"/>
            <a:ext cx="182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6B7A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300" dirty="0"/>
          </a:p>
        </p:txBody>
      </p:sp>
      <p:sp>
        <p:nvSpPr>
          <p:cNvPr id="34" name="Shape 32"/>
          <p:cNvSpPr/>
          <p:nvPr/>
        </p:nvSpPr>
        <p:spPr>
          <a:xfrm>
            <a:off x="9936480" y="2331720"/>
            <a:ext cx="1676400" cy="2834640"/>
          </a:xfrm>
          <a:prstGeom prst="roundRect">
            <a:avLst>
              <a:gd name="adj" fmla="val 4909"/>
            </a:avLst>
          </a:prstGeom>
          <a:solidFill>
            <a:srgbClr val="121A2E"/>
          </a:solidFill>
          <a:ln w="9525">
            <a:solidFill>
              <a:srgbClr val="2A3555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10491216" y="2551176"/>
            <a:ext cx="566928" cy="566928"/>
          </a:xfrm>
          <a:prstGeom prst="ellipse">
            <a:avLst/>
          </a:prstGeom>
          <a:solidFill>
            <a:srgbClr val="9BA8C4"/>
          </a:solidFill>
          <a:ln/>
        </p:spPr>
      </p:sp>
      <p:sp>
        <p:nvSpPr>
          <p:cNvPr id="36" name="Text 34"/>
          <p:cNvSpPr txBox="1"/>
          <p:nvPr/>
        </p:nvSpPr>
        <p:spPr>
          <a:xfrm>
            <a:off x="10491216" y="2551176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A0F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800" dirty="0"/>
          </a:p>
        </p:txBody>
      </p:sp>
      <p:sp>
        <p:nvSpPr>
          <p:cNvPr id="37" name="Text 35"/>
          <p:cNvSpPr txBox="1"/>
          <p:nvPr/>
        </p:nvSpPr>
        <p:spPr>
          <a:xfrm>
            <a:off x="10009632" y="3246120"/>
            <a:ext cx="153009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</a:t>
            </a:r>
            <a:endParaRPr lang="en-US" sz="1250" dirty="0"/>
          </a:p>
        </p:txBody>
      </p:sp>
      <p:sp>
        <p:nvSpPr>
          <p:cNvPr id="38" name="Text 36"/>
          <p:cNvSpPr txBox="1"/>
          <p:nvPr/>
        </p:nvSpPr>
        <p:spPr>
          <a:xfrm>
            <a:off x="10046208" y="3840480"/>
            <a:ext cx="1456944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70" dirty="0">
                <a:solidFill>
                  <a:srgbClr val="9BA8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Record every decision</a:t>
            </a:r>
            <a:endParaRPr lang="en-US" sz="970" dirty="0"/>
          </a:p>
          <a:p>
            <a:pPr algn="ctr" indent="0" marL="0">
              <a:buNone/>
            </a:pPr>
            <a:r>
              <a:rPr lang="en-US" sz="970" dirty="0">
                <a:solidFill>
                  <a:srgbClr val="9BA8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 its reason.</a:t>
            </a:r>
            <a:endParaRPr lang="en-US" sz="970" dirty="0"/>
          </a:p>
        </p:txBody>
      </p:sp>
      <p:sp>
        <p:nvSpPr>
          <p:cNvPr id="39" name="Shape 37"/>
          <p:cNvSpPr/>
          <p:nvPr/>
        </p:nvSpPr>
        <p:spPr>
          <a:xfrm>
            <a:off x="548640" y="5486400"/>
            <a:ext cx="11091672" cy="685800"/>
          </a:xfrm>
          <a:prstGeom prst="roundRect">
            <a:avLst>
              <a:gd name="adj" fmla="val 12000"/>
            </a:avLst>
          </a:prstGeom>
          <a:solidFill>
            <a:srgbClr val="182140"/>
          </a:solidFill>
          <a:ln w="9525">
            <a:solidFill>
              <a:srgbClr val="2A3555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40" name="Text 38"/>
          <p:cNvSpPr txBox="1"/>
          <p:nvPr/>
        </p:nvSpPr>
        <p:spPr>
          <a:xfrm>
            <a:off x="548640" y="5486400"/>
            <a:ext cx="1109167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i="1" dirty="0">
                <a:solidFill>
                  <a:srgbClr val="2DD4B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“ML recommends.  Deterministic policy controls.  Every decision is audited.”</a:t>
            </a:r>
            <a:endParaRPr lang="en-US" sz="1700" dirty="0"/>
          </a:p>
        </p:txBody>
      </p:sp>
      <p:sp>
        <p:nvSpPr>
          <p:cNvPr id="41" name="Text 39"/>
          <p:cNvSpPr txBox="1"/>
          <p:nvPr/>
        </p:nvSpPr>
        <p:spPr>
          <a:xfrm>
            <a:off x="457200" y="6528816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6B7A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RECOVERAI</a:t>
            </a:r>
            <a:endParaRPr lang="en-US" sz="900" dirty="0"/>
          </a:p>
        </p:txBody>
      </p:sp>
      <p:sp>
        <p:nvSpPr>
          <p:cNvPr id="42" name="Text 40"/>
          <p:cNvSpPr txBox="1"/>
          <p:nvPr/>
        </p:nvSpPr>
        <p:spPr>
          <a:xfrm>
            <a:off x="8074152" y="6528816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A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Razorpay AI Buildathon 2026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F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— THE MODEL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1064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AI Predicts Recovery Probability —</a:t>
            </a:r>
            <a:endParaRPr lang="en-US" sz="26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It Does Not Control Execution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48640" y="2331720"/>
            <a:ext cx="4572000" cy="658368"/>
          </a:xfrm>
          <a:prstGeom prst="roundRect">
            <a:avLst>
              <a:gd name="adj" fmla="val 12500"/>
            </a:avLst>
          </a:prstGeom>
          <a:solidFill>
            <a:srgbClr val="121A2E"/>
          </a:solidFill>
          <a:ln w="9525">
            <a:solidFill>
              <a:srgbClr val="2A3555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77240" y="2478024"/>
            <a:ext cx="365760" cy="365760"/>
          </a:xfrm>
          <a:prstGeom prst="ellipse">
            <a:avLst/>
          </a:prstGeom>
          <a:solidFill>
            <a:srgbClr val="6B7A9E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777240" y="247802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A0F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1280160" y="2331720"/>
            <a:ext cx="3657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Transaction Features</a:t>
            </a:r>
            <a:endParaRPr lang="en-US" sz="1450" dirty="0"/>
          </a:p>
        </p:txBody>
      </p:sp>
      <p:sp>
        <p:nvSpPr>
          <p:cNvPr id="8" name="Shape 6"/>
          <p:cNvSpPr/>
          <p:nvPr/>
        </p:nvSpPr>
        <p:spPr>
          <a:xfrm>
            <a:off x="2752344" y="3008376"/>
            <a:ext cx="164592" cy="219456"/>
          </a:xfrm>
          <a:prstGeom prst="downArrow">
            <a:avLst/>
          </a:prstGeom>
          <a:solidFill>
            <a:srgbClr val="6B7A9E"/>
          </a:solidFill>
          <a:ln/>
        </p:spPr>
      </p:sp>
      <p:sp>
        <p:nvSpPr>
          <p:cNvPr id="9" name="Shape 7"/>
          <p:cNvSpPr/>
          <p:nvPr/>
        </p:nvSpPr>
        <p:spPr>
          <a:xfrm>
            <a:off x="548640" y="3246120"/>
            <a:ext cx="4572000" cy="658368"/>
          </a:xfrm>
          <a:prstGeom prst="roundRect">
            <a:avLst>
              <a:gd name="adj" fmla="val 12500"/>
            </a:avLst>
          </a:prstGeom>
          <a:solidFill>
            <a:srgbClr val="1C2645"/>
          </a:solidFill>
          <a:ln w="9525">
            <a:solidFill>
              <a:srgbClr val="2A3555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777240" y="3392424"/>
            <a:ext cx="365760" cy="365760"/>
          </a:xfrm>
          <a:prstGeom prst="ellipse">
            <a:avLst/>
          </a:prstGeom>
          <a:solidFill>
            <a:srgbClr val="2DD4BF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777240" y="339242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A0F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1280160" y="3246120"/>
            <a:ext cx="3657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XGBoost</a:t>
            </a:r>
            <a:endParaRPr lang="en-US" sz="1450" dirty="0"/>
          </a:p>
        </p:txBody>
      </p:sp>
      <p:sp>
        <p:nvSpPr>
          <p:cNvPr id="13" name="Shape 11"/>
          <p:cNvSpPr/>
          <p:nvPr/>
        </p:nvSpPr>
        <p:spPr>
          <a:xfrm>
            <a:off x="2752344" y="3922776"/>
            <a:ext cx="164592" cy="219456"/>
          </a:xfrm>
          <a:prstGeom prst="downArrow">
            <a:avLst/>
          </a:prstGeom>
          <a:solidFill>
            <a:srgbClr val="6B7A9E"/>
          </a:solidFill>
          <a:ln/>
        </p:spPr>
      </p:sp>
      <p:sp>
        <p:nvSpPr>
          <p:cNvPr id="14" name="Shape 12"/>
          <p:cNvSpPr/>
          <p:nvPr/>
        </p:nvSpPr>
        <p:spPr>
          <a:xfrm>
            <a:off x="548640" y="4160520"/>
            <a:ext cx="4572000" cy="658368"/>
          </a:xfrm>
          <a:prstGeom prst="roundRect">
            <a:avLst>
              <a:gd name="adj" fmla="val 12500"/>
            </a:avLst>
          </a:prstGeom>
          <a:solidFill>
            <a:srgbClr val="121A2E"/>
          </a:solidFill>
          <a:ln w="9525">
            <a:solidFill>
              <a:srgbClr val="2A3555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777240" y="4306824"/>
            <a:ext cx="365760" cy="365760"/>
          </a:xfrm>
          <a:prstGeom prst="ellipse">
            <a:avLst/>
          </a:prstGeom>
          <a:solidFill>
            <a:srgbClr val="6B7A9E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777240" y="430682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A0F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17" name="Text 15"/>
          <p:cNvSpPr txBox="1"/>
          <p:nvPr/>
        </p:nvSpPr>
        <p:spPr>
          <a:xfrm>
            <a:off x="1280160" y="4160520"/>
            <a:ext cx="3657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Recovery Probability</a:t>
            </a:r>
            <a:endParaRPr lang="en-US" sz="1450" dirty="0"/>
          </a:p>
        </p:txBody>
      </p:sp>
      <p:sp>
        <p:nvSpPr>
          <p:cNvPr id="18" name="Shape 16"/>
          <p:cNvSpPr/>
          <p:nvPr/>
        </p:nvSpPr>
        <p:spPr>
          <a:xfrm>
            <a:off x="2752344" y="4837176"/>
            <a:ext cx="164592" cy="219456"/>
          </a:xfrm>
          <a:prstGeom prst="downArrow">
            <a:avLst/>
          </a:prstGeom>
          <a:solidFill>
            <a:srgbClr val="6B7A9E"/>
          </a:solidFill>
          <a:ln/>
        </p:spPr>
      </p:sp>
      <p:sp>
        <p:nvSpPr>
          <p:cNvPr id="19" name="Shape 17"/>
          <p:cNvSpPr/>
          <p:nvPr/>
        </p:nvSpPr>
        <p:spPr>
          <a:xfrm>
            <a:off x="548640" y="5074920"/>
            <a:ext cx="4572000" cy="658368"/>
          </a:xfrm>
          <a:prstGeom prst="roundRect">
            <a:avLst>
              <a:gd name="adj" fmla="val 12500"/>
            </a:avLst>
          </a:prstGeom>
          <a:solidFill>
            <a:srgbClr val="121A2E"/>
          </a:solidFill>
          <a:ln w="9525">
            <a:solidFill>
              <a:srgbClr val="2A3555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777240" y="5221224"/>
            <a:ext cx="365760" cy="365760"/>
          </a:xfrm>
          <a:prstGeom prst="ellipse">
            <a:avLst/>
          </a:prstGeom>
          <a:solidFill>
            <a:srgbClr val="6B7A9E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777240" y="522122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A0F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22" name="Text 20"/>
          <p:cNvSpPr txBox="1"/>
          <p:nvPr/>
        </p:nvSpPr>
        <p:spPr>
          <a:xfrm>
            <a:off x="1280160" y="5074920"/>
            <a:ext cx="3657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Intervention Optimization</a:t>
            </a:r>
            <a:endParaRPr lang="en-US" sz="1450" dirty="0"/>
          </a:p>
        </p:txBody>
      </p:sp>
      <p:sp>
        <p:nvSpPr>
          <p:cNvPr id="23" name="Text 21"/>
          <p:cNvSpPr txBox="1"/>
          <p:nvPr/>
        </p:nvSpPr>
        <p:spPr>
          <a:xfrm>
            <a:off x="548640" y="603504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9BA8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XGBoost is used because the problem involves structured, tabular transaction data.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5486400" y="2331720"/>
            <a:ext cx="6153912" cy="2148840"/>
          </a:xfrm>
          <a:prstGeom prst="roundRect">
            <a:avLst>
              <a:gd name="adj" fmla="val 3830"/>
            </a:avLst>
          </a:prstGeom>
          <a:solidFill>
            <a:srgbClr val="121A2E"/>
          </a:solidFill>
          <a:ln w="9525">
            <a:solidFill>
              <a:srgbClr val="2A3555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25" name="Text 23"/>
          <p:cNvSpPr txBox="1"/>
          <p:nvPr/>
        </p:nvSpPr>
        <p:spPr>
          <a:xfrm>
            <a:off x="5806440" y="2496312"/>
            <a:ext cx="55138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20" kern="0" dirty="0">
                <a:solidFill>
                  <a:srgbClr val="9BA8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RECOVERY PROBABILITY — EXAMPLES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6035040" y="2834640"/>
            <a:ext cx="1051560" cy="1051560"/>
          </a:xfrm>
          <a:prstGeom prst="ellipse">
            <a:avLst/>
          </a:prstGeom>
          <a:solidFill>
            <a:srgbClr val="1C2645"/>
          </a:solidFill>
          <a:ln w="38100">
            <a:solidFill>
              <a:srgbClr val="34D399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6035040" y="2834640"/>
            <a:ext cx="10515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87.4%</a:t>
            </a:r>
            <a:endParaRPr lang="en-US" sz="1700" dirty="0"/>
          </a:p>
        </p:txBody>
      </p:sp>
      <p:sp>
        <p:nvSpPr>
          <p:cNvPr id="28" name="Text 26"/>
          <p:cNvSpPr txBox="1"/>
          <p:nvPr/>
        </p:nvSpPr>
        <p:spPr>
          <a:xfrm>
            <a:off x="5532120" y="3950208"/>
            <a:ext cx="2148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BA8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RECOVERY PROBABILITY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8791956" y="2834640"/>
            <a:ext cx="1051560" cy="1051560"/>
          </a:xfrm>
          <a:prstGeom prst="ellipse">
            <a:avLst/>
          </a:prstGeom>
          <a:solidFill>
            <a:srgbClr val="1C2645"/>
          </a:solidFill>
          <a:ln w="38100">
            <a:solidFill>
              <a:srgbClr val="F0554B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8791956" y="2834640"/>
            <a:ext cx="10515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055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23.4%</a:t>
            </a:r>
            <a:endParaRPr lang="en-US" sz="1700" dirty="0"/>
          </a:p>
        </p:txBody>
      </p:sp>
      <p:sp>
        <p:nvSpPr>
          <p:cNvPr id="31" name="Text 29"/>
          <p:cNvSpPr txBox="1"/>
          <p:nvPr/>
        </p:nvSpPr>
        <p:spPr>
          <a:xfrm>
            <a:off x="8289036" y="3950208"/>
            <a:ext cx="2148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BA8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 RECOVERY PROBABILITY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5486400" y="4709160"/>
            <a:ext cx="6153912" cy="1691640"/>
          </a:xfrm>
          <a:prstGeom prst="roundRect">
            <a:avLst>
              <a:gd name="adj" fmla="val 4865"/>
            </a:avLst>
          </a:prstGeom>
          <a:solidFill>
            <a:srgbClr val="182140"/>
          </a:solidFill>
          <a:ln w="9525">
            <a:solidFill>
              <a:srgbClr val="2A3555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33" name="Text 31"/>
          <p:cNvSpPr txBox="1"/>
          <p:nvPr/>
        </p:nvSpPr>
        <p:spPr>
          <a:xfrm>
            <a:off x="5806440" y="4873752"/>
            <a:ext cx="55138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20" kern="0" dirty="0">
                <a:solidFill>
                  <a:srgbClr val="9BA8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EVALUATION</a:t>
            </a:r>
            <a:endParaRPr lang="en-US" sz="1100" dirty="0"/>
          </a:p>
        </p:txBody>
      </p:sp>
      <p:sp>
        <p:nvSpPr>
          <p:cNvPr id="34" name="Text 32"/>
          <p:cNvSpPr txBox="1"/>
          <p:nvPr/>
        </p:nvSpPr>
        <p:spPr>
          <a:xfrm>
            <a:off x="5806440" y="5120640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66.70%</a:t>
            </a:r>
            <a:endParaRPr lang="en-US" sz="3200" dirty="0"/>
          </a:p>
        </p:txBody>
      </p:sp>
      <p:sp>
        <p:nvSpPr>
          <p:cNvPr id="35" name="Text 33"/>
          <p:cNvSpPr txBox="1"/>
          <p:nvPr/>
        </p:nvSpPr>
        <p:spPr>
          <a:xfrm>
            <a:off x="5806440" y="5641848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9BA8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ACCURACY</a:t>
            </a:r>
            <a:endParaRPr lang="en-US" sz="1050" dirty="0"/>
          </a:p>
        </p:txBody>
      </p:sp>
      <p:sp>
        <p:nvSpPr>
          <p:cNvPr id="36" name="Text 34"/>
          <p:cNvSpPr txBox="1"/>
          <p:nvPr/>
        </p:nvSpPr>
        <p:spPr>
          <a:xfrm>
            <a:off x="8686800" y="5120640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71.64%</a:t>
            </a:r>
            <a:endParaRPr lang="en-US" sz="3200" dirty="0"/>
          </a:p>
        </p:txBody>
      </p:sp>
      <p:sp>
        <p:nvSpPr>
          <p:cNvPr id="37" name="Text 35"/>
          <p:cNvSpPr txBox="1"/>
          <p:nvPr/>
        </p:nvSpPr>
        <p:spPr>
          <a:xfrm>
            <a:off x="8686800" y="5641848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9BA8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ROC-AUC</a:t>
            </a:r>
            <a:endParaRPr lang="en-US" sz="1050" dirty="0"/>
          </a:p>
        </p:txBody>
      </p:sp>
      <p:sp>
        <p:nvSpPr>
          <p:cNvPr id="38" name="Shape 36"/>
          <p:cNvSpPr/>
          <p:nvPr/>
        </p:nvSpPr>
        <p:spPr>
          <a:xfrm>
            <a:off x="5806440" y="5989320"/>
            <a:ext cx="3520440" cy="310896"/>
          </a:xfrm>
          <a:prstGeom prst="roundRect">
            <a:avLst>
              <a:gd name="adj" fmla="val 50000"/>
            </a:avLst>
          </a:prstGeom>
          <a:solidFill>
            <a:srgbClr val="F5A623"/>
          </a:solidFill>
          <a:ln/>
        </p:spPr>
      </p:sp>
      <p:sp>
        <p:nvSpPr>
          <p:cNvPr id="39" name="Text 37"/>
          <p:cNvSpPr txBox="1"/>
          <p:nvPr/>
        </p:nvSpPr>
        <p:spPr>
          <a:xfrm>
            <a:off x="5806440" y="5989320"/>
            <a:ext cx="3520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50" kern="0" dirty="0">
                <a:solidFill>
                  <a:srgbClr val="0A0F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SYNTHETIC DATASET EVALUATION</a:t>
            </a:r>
            <a:endParaRPr lang="en-US" sz="1100" dirty="0"/>
          </a:p>
        </p:txBody>
      </p:sp>
      <p:sp>
        <p:nvSpPr>
          <p:cNvPr id="40" name="Text 38"/>
          <p:cNvSpPr txBox="1"/>
          <p:nvPr/>
        </p:nvSpPr>
        <p:spPr>
          <a:xfrm>
            <a:off x="457200" y="6528816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6B7A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RECOVERAI</a:t>
            </a:r>
            <a:endParaRPr lang="en-US" sz="900" dirty="0"/>
          </a:p>
        </p:txBody>
      </p:sp>
      <p:sp>
        <p:nvSpPr>
          <p:cNvPr id="41" name="Text 39"/>
          <p:cNvSpPr txBox="1"/>
          <p:nvPr/>
        </p:nvSpPr>
        <p:spPr>
          <a:xfrm>
            <a:off x="8074152" y="6528816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A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Razorpay AI Buildathon 2026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F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— DECISIONING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Probability Alone Is Not Enough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08864" y="1874520"/>
            <a:ext cx="3566160" cy="1691640"/>
          </a:xfrm>
          <a:prstGeom prst="roundRect">
            <a:avLst>
              <a:gd name="adj" fmla="val 4865"/>
            </a:avLst>
          </a:prstGeom>
          <a:solidFill>
            <a:srgbClr val="121A2E"/>
          </a:solidFill>
          <a:ln w="9525">
            <a:solidFill>
              <a:srgbClr val="2A3555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83184" y="2148840"/>
            <a:ext cx="502920" cy="502920"/>
          </a:xfrm>
          <a:prstGeom prst="roundRect">
            <a:avLst>
              <a:gd name="adj" fmla="val 16364"/>
            </a:avLst>
          </a:prstGeom>
          <a:solidFill>
            <a:srgbClr val="2DD4BF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1468984" y="2167128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RETRY</a:t>
            </a:r>
            <a:endParaRPr lang="en-US" sz="1700" dirty="0"/>
          </a:p>
        </p:txBody>
      </p:sp>
      <p:sp>
        <p:nvSpPr>
          <p:cNvPr id="7" name="Text 5"/>
          <p:cNvSpPr txBox="1"/>
          <p:nvPr/>
        </p:nvSpPr>
        <p:spPr>
          <a:xfrm>
            <a:off x="783184" y="2788920"/>
            <a:ext cx="30175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BA8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suitable temporary or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9BA8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retryable failures.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312768" y="1874520"/>
            <a:ext cx="3566160" cy="1691640"/>
          </a:xfrm>
          <a:prstGeom prst="roundRect">
            <a:avLst>
              <a:gd name="adj" fmla="val 4865"/>
            </a:avLst>
          </a:prstGeom>
          <a:solidFill>
            <a:srgbClr val="121A2E"/>
          </a:solidFill>
          <a:ln w="9525">
            <a:solidFill>
              <a:srgbClr val="2A3555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587088" y="2148840"/>
            <a:ext cx="502920" cy="502920"/>
          </a:xfrm>
          <a:prstGeom prst="roundRect">
            <a:avLst>
              <a:gd name="adj" fmla="val 16364"/>
            </a:avLst>
          </a:prstGeom>
          <a:solidFill>
            <a:srgbClr val="F5A623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5272888" y="2167128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REMINDER</a:t>
            </a:r>
            <a:endParaRPr lang="en-US" sz="1700" dirty="0"/>
          </a:p>
        </p:txBody>
      </p:sp>
      <p:sp>
        <p:nvSpPr>
          <p:cNvPr id="11" name="Text 9"/>
          <p:cNvSpPr txBox="1"/>
          <p:nvPr/>
        </p:nvSpPr>
        <p:spPr>
          <a:xfrm>
            <a:off x="4587088" y="2788920"/>
            <a:ext cx="30175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BA8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cases where customer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9BA8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 may be more appropriate.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8116672" y="1874520"/>
            <a:ext cx="3566160" cy="1691640"/>
          </a:xfrm>
          <a:prstGeom prst="roundRect">
            <a:avLst>
              <a:gd name="adj" fmla="val 4865"/>
            </a:avLst>
          </a:prstGeom>
          <a:solidFill>
            <a:srgbClr val="121A2E"/>
          </a:solidFill>
          <a:ln w="9525">
            <a:solidFill>
              <a:srgbClr val="2A3555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8390992" y="2148840"/>
            <a:ext cx="502920" cy="502920"/>
          </a:xfrm>
          <a:prstGeom prst="roundRect">
            <a:avLst>
              <a:gd name="adj" fmla="val 16364"/>
            </a:avLst>
          </a:prstGeom>
          <a:solidFill>
            <a:srgbClr val="F0554B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9076792" y="2167128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ESCALATE</a:t>
            </a:r>
            <a:endParaRPr lang="en-US" sz="1700" dirty="0"/>
          </a:p>
        </p:txBody>
      </p:sp>
      <p:sp>
        <p:nvSpPr>
          <p:cNvPr id="15" name="Text 13"/>
          <p:cNvSpPr txBox="1"/>
          <p:nvPr/>
        </p:nvSpPr>
        <p:spPr>
          <a:xfrm>
            <a:off x="8390992" y="2788920"/>
            <a:ext cx="30175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BA8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uncertain, high-risk, or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9BA8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policy-restricted cases.</a:t>
            </a:r>
            <a:endParaRPr lang="en-US" sz="1200" dirty="0"/>
          </a:p>
        </p:txBody>
      </p:sp>
      <p:sp>
        <p:nvSpPr>
          <p:cNvPr id="16" name="Text 14"/>
          <p:cNvSpPr txBox="1"/>
          <p:nvPr/>
        </p:nvSpPr>
        <p:spPr>
          <a:xfrm>
            <a:off x="508864" y="3977640"/>
            <a:ext cx="111739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spc="150" kern="0" dirty="0">
                <a:solidFill>
                  <a:srgbClr val="9BA8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ECONOMIC DECISION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1592428" y="4389120"/>
            <a:ext cx="2331720" cy="1051560"/>
          </a:xfrm>
          <a:prstGeom prst="roundRect">
            <a:avLst>
              <a:gd name="adj" fmla="val 7826"/>
            </a:avLst>
          </a:prstGeom>
          <a:solidFill>
            <a:srgbClr val="182140"/>
          </a:solidFill>
          <a:ln w="9525">
            <a:solidFill>
              <a:srgbClr val="2A3555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1875892" y="4814316"/>
            <a:ext cx="201168" cy="201168"/>
          </a:xfrm>
          <a:prstGeom prst="ellipse">
            <a:avLst/>
          </a:prstGeom>
          <a:solidFill>
            <a:srgbClr val="34D399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2214220" y="4389120"/>
            <a:ext cx="15087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Expected</a:t>
            </a:r>
            <a:endParaRPr lang="en-US" sz="1400" dirty="0"/>
          </a:p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Recovery Value</a:t>
            </a:r>
            <a:endParaRPr lang="en-US" sz="1400" dirty="0"/>
          </a:p>
        </p:txBody>
      </p:sp>
      <p:sp>
        <p:nvSpPr>
          <p:cNvPr id="20" name="Text 18"/>
          <p:cNvSpPr txBox="1"/>
          <p:nvPr/>
        </p:nvSpPr>
        <p:spPr>
          <a:xfrm>
            <a:off x="4198468" y="4389120"/>
            <a:ext cx="4572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9BA8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−</a:t>
            </a:r>
            <a:endParaRPr lang="en-US" sz="2600" dirty="0"/>
          </a:p>
        </p:txBody>
      </p:sp>
      <p:sp>
        <p:nvSpPr>
          <p:cNvPr id="21" name="Shape 19"/>
          <p:cNvSpPr/>
          <p:nvPr/>
        </p:nvSpPr>
        <p:spPr>
          <a:xfrm>
            <a:off x="4929988" y="4389120"/>
            <a:ext cx="2331720" cy="1051560"/>
          </a:xfrm>
          <a:prstGeom prst="roundRect">
            <a:avLst>
              <a:gd name="adj" fmla="val 7826"/>
            </a:avLst>
          </a:prstGeom>
          <a:solidFill>
            <a:srgbClr val="182140"/>
          </a:solidFill>
          <a:ln w="9525">
            <a:solidFill>
              <a:srgbClr val="2A3555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5213452" y="4814316"/>
            <a:ext cx="201168" cy="201168"/>
          </a:xfrm>
          <a:prstGeom prst="ellipse">
            <a:avLst/>
          </a:prstGeom>
          <a:solidFill>
            <a:srgbClr val="F0554B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5551780" y="4389120"/>
            <a:ext cx="15087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Intervention</a:t>
            </a:r>
            <a:endParaRPr lang="en-US" sz="1400" dirty="0"/>
          </a:p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</a:t>
            </a:r>
            <a:endParaRPr lang="en-US" sz="1400" dirty="0"/>
          </a:p>
        </p:txBody>
      </p:sp>
      <p:sp>
        <p:nvSpPr>
          <p:cNvPr id="24" name="Text 22"/>
          <p:cNvSpPr txBox="1"/>
          <p:nvPr/>
        </p:nvSpPr>
        <p:spPr>
          <a:xfrm>
            <a:off x="7536028" y="4389120"/>
            <a:ext cx="4572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9BA8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=</a:t>
            </a:r>
            <a:endParaRPr lang="en-US" sz="2600" dirty="0"/>
          </a:p>
        </p:txBody>
      </p:sp>
      <p:sp>
        <p:nvSpPr>
          <p:cNvPr id="25" name="Shape 23"/>
          <p:cNvSpPr/>
          <p:nvPr/>
        </p:nvSpPr>
        <p:spPr>
          <a:xfrm>
            <a:off x="8267548" y="4389120"/>
            <a:ext cx="2331720" cy="1051560"/>
          </a:xfrm>
          <a:prstGeom prst="roundRect">
            <a:avLst>
              <a:gd name="adj" fmla="val 7826"/>
            </a:avLst>
          </a:prstGeom>
          <a:solidFill>
            <a:srgbClr val="182140"/>
          </a:solidFill>
          <a:ln w="9525">
            <a:solidFill>
              <a:srgbClr val="2A3555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8551012" y="4814316"/>
            <a:ext cx="201168" cy="201168"/>
          </a:xfrm>
          <a:prstGeom prst="ellipse">
            <a:avLst/>
          </a:prstGeom>
          <a:solidFill>
            <a:srgbClr val="2DD4BF"/>
          </a:solidFill>
          <a:ln/>
        </p:spPr>
      </p:sp>
      <p:sp>
        <p:nvSpPr>
          <p:cNvPr id="27" name="Text 25"/>
          <p:cNvSpPr txBox="1"/>
          <p:nvPr/>
        </p:nvSpPr>
        <p:spPr>
          <a:xfrm>
            <a:off x="8889340" y="4389120"/>
            <a:ext cx="15087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 Expected</a:t>
            </a:r>
            <a:endParaRPr lang="en-US" sz="1400" dirty="0"/>
          </a:p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Value</a:t>
            </a:r>
            <a:endParaRPr lang="en-US" sz="1400" dirty="0"/>
          </a:p>
        </p:txBody>
      </p:sp>
      <p:sp>
        <p:nvSpPr>
          <p:cNvPr id="28" name="Text 26"/>
          <p:cNvSpPr txBox="1"/>
          <p:nvPr/>
        </p:nvSpPr>
        <p:spPr>
          <a:xfrm>
            <a:off x="508864" y="5623560"/>
            <a:ext cx="111739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9BA8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system evaluates recovery potential together with intervention economics — rather than simply maximizing retries.</a:t>
            </a:r>
            <a:endParaRPr lang="en-US" sz="1300" dirty="0"/>
          </a:p>
        </p:txBody>
      </p:sp>
      <p:sp>
        <p:nvSpPr>
          <p:cNvPr id="29" name="Text 27"/>
          <p:cNvSpPr txBox="1"/>
          <p:nvPr/>
        </p:nvSpPr>
        <p:spPr>
          <a:xfrm>
            <a:off x="457200" y="6528816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6B7A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RECOVERAI</a:t>
            </a:r>
            <a:endParaRPr lang="en-US" sz="900" dirty="0"/>
          </a:p>
        </p:txBody>
      </p:sp>
      <p:sp>
        <p:nvSpPr>
          <p:cNvPr id="30" name="Text 28"/>
          <p:cNvSpPr txBox="1"/>
          <p:nvPr/>
        </p:nvSpPr>
        <p:spPr>
          <a:xfrm>
            <a:off x="8074152" y="6528816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A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Razorpay AI Buildathon 2026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F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— SAFETY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AI Recommends. Policy Controls.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874520"/>
            <a:ext cx="3108960" cy="640080"/>
          </a:xfrm>
          <a:prstGeom prst="roundRect">
            <a:avLst>
              <a:gd name="adj" fmla="val 12857"/>
            </a:avLst>
          </a:prstGeom>
          <a:solidFill>
            <a:srgbClr val="182140"/>
          </a:solidFill>
          <a:ln w="9525">
            <a:solidFill>
              <a:srgbClr val="2A3555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548640" y="1874520"/>
            <a:ext cx="3108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spc="100" kern="0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RECOMMENDATION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3749040" y="2112264"/>
            <a:ext cx="502920" cy="164592"/>
          </a:xfrm>
          <a:prstGeom prst="rightArrow">
            <a:avLst/>
          </a:prstGeom>
          <a:solidFill>
            <a:srgbClr val="6B7A9E"/>
          </a:solidFill>
          <a:ln/>
        </p:spPr>
      </p:sp>
      <p:sp>
        <p:nvSpPr>
          <p:cNvPr id="7" name="Shape 5"/>
          <p:cNvSpPr/>
          <p:nvPr/>
        </p:nvSpPr>
        <p:spPr>
          <a:xfrm>
            <a:off x="4343400" y="1783080"/>
            <a:ext cx="7296912" cy="822960"/>
          </a:xfrm>
          <a:prstGeom prst="roundRect">
            <a:avLst>
              <a:gd name="adj" fmla="val 10000"/>
            </a:avLst>
          </a:prstGeom>
          <a:solidFill>
            <a:srgbClr val="1C2645"/>
          </a:solidFill>
          <a:ln w="9525">
            <a:solidFill>
              <a:srgbClr val="2DD4BF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8" name="Text 6"/>
          <p:cNvSpPr txBox="1"/>
          <p:nvPr/>
        </p:nvSpPr>
        <p:spPr>
          <a:xfrm>
            <a:off x="4343400" y="1783080"/>
            <a:ext cx="729691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DETERMINISTIC POLICY ENGINE</a:t>
            </a:r>
            <a:endParaRPr lang="en-US" sz="1900" dirty="0"/>
          </a:p>
        </p:txBody>
      </p:sp>
      <p:sp>
        <p:nvSpPr>
          <p:cNvPr id="9" name="Text 7"/>
          <p:cNvSpPr txBox="1"/>
          <p:nvPr/>
        </p:nvSpPr>
        <p:spPr>
          <a:xfrm>
            <a:off x="548640" y="292608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20" kern="0" dirty="0">
                <a:solidFill>
                  <a:srgbClr val="9BA8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SAFETY CHECKS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548640" y="3246120"/>
            <a:ext cx="2148840" cy="777240"/>
          </a:xfrm>
          <a:prstGeom prst="roundRect">
            <a:avLst>
              <a:gd name="adj" fmla="val 10588"/>
            </a:avLst>
          </a:prstGeom>
          <a:solidFill>
            <a:srgbClr val="121A2E"/>
          </a:solidFill>
          <a:ln w="9525">
            <a:solidFill>
              <a:srgbClr val="2A3555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694944" y="3355848"/>
            <a:ext cx="292608" cy="292608"/>
          </a:xfrm>
          <a:prstGeom prst="ellipse">
            <a:avLst/>
          </a:prstGeom>
          <a:solidFill>
            <a:srgbClr val="34D399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694944" y="3355848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A0F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300" dirty="0"/>
          </a:p>
        </p:txBody>
      </p:sp>
      <p:sp>
        <p:nvSpPr>
          <p:cNvPr id="13" name="Text 11"/>
          <p:cNvSpPr txBox="1"/>
          <p:nvPr/>
        </p:nvSpPr>
        <p:spPr>
          <a:xfrm>
            <a:off x="685800" y="3685032"/>
            <a:ext cx="1874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3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Confidence threshold</a:t>
            </a:r>
            <a:endParaRPr lang="en-US" sz="930" dirty="0"/>
          </a:p>
        </p:txBody>
      </p:sp>
      <p:sp>
        <p:nvSpPr>
          <p:cNvPr id="14" name="Shape 12"/>
          <p:cNvSpPr/>
          <p:nvPr/>
        </p:nvSpPr>
        <p:spPr>
          <a:xfrm>
            <a:off x="2871216" y="3246120"/>
            <a:ext cx="2148840" cy="777240"/>
          </a:xfrm>
          <a:prstGeom prst="roundRect">
            <a:avLst>
              <a:gd name="adj" fmla="val 10588"/>
            </a:avLst>
          </a:prstGeom>
          <a:solidFill>
            <a:srgbClr val="121A2E"/>
          </a:solidFill>
          <a:ln w="9525">
            <a:solidFill>
              <a:srgbClr val="2A3555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3017520" y="3355848"/>
            <a:ext cx="292608" cy="292608"/>
          </a:xfrm>
          <a:prstGeom prst="ellipse">
            <a:avLst/>
          </a:prstGeom>
          <a:solidFill>
            <a:srgbClr val="34D399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3017520" y="3355848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A0F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300" dirty="0"/>
          </a:p>
        </p:txBody>
      </p:sp>
      <p:sp>
        <p:nvSpPr>
          <p:cNvPr id="17" name="Text 15"/>
          <p:cNvSpPr txBox="1"/>
          <p:nvPr/>
        </p:nvSpPr>
        <p:spPr>
          <a:xfrm>
            <a:off x="3008376" y="3685032"/>
            <a:ext cx="1874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3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Transaction-value threshold</a:t>
            </a:r>
            <a:endParaRPr lang="en-US" sz="930" dirty="0"/>
          </a:p>
        </p:txBody>
      </p:sp>
      <p:sp>
        <p:nvSpPr>
          <p:cNvPr id="18" name="Shape 16"/>
          <p:cNvSpPr/>
          <p:nvPr/>
        </p:nvSpPr>
        <p:spPr>
          <a:xfrm>
            <a:off x="5193792" y="3246120"/>
            <a:ext cx="2148840" cy="777240"/>
          </a:xfrm>
          <a:prstGeom prst="roundRect">
            <a:avLst>
              <a:gd name="adj" fmla="val 10588"/>
            </a:avLst>
          </a:prstGeom>
          <a:solidFill>
            <a:srgbClr val="121A2E"/>
          </a:solidFill>
          <a:ln w="9525">
            <a:solidFill>
              <a:srgbClr val="2A3555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5340096" y="3355848"/>
            <a:ext cx="292608" cy="292608"/>
          </a:xfrm>
          <a:prstGeom prst="ellipse">
            <a:avLst/>
          </a:prstGeom>
          <a:solidFill>
            <a:srgbClr val="34D399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5340096" y="3355848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A0F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300" dirty="0"/>
          </a:p>
        </p:txBody>
      </p:sp>
      <p:sp>
        <p:nvSpPr>
          <p:cNvPr id="21" name="Text 19"/>
          <p:cNvSpPr txBox="1"/>
          <p:nvPr/>
        </p:nvSpPr>
        <p:spPr>
          <a:xfrm>
            <a:off x="5330952" y="3685032"/>
            <a:ext cx="1874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3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Retry-attempt limit</a:t>
            </a:r>
            <a:endParaRPr lang="en-US" sz="930" dirty="0"/>
          </a:p>
        </p:txBody>
      </p:sp>
      <p:sp>
        <p:nvSpPr>
          <p:cNvPr id="22" name="Shape 20"/>
          <p:cNvSpPr/>
          <p:nvPr/>
        </p:nvSpPr>
        <p:spPr>
          <a:xfrm>
            <a:off x="7516368" y="3246120"/>
            <a:ext cx="2148840" cy="777240"/>
          </a:xfrm>
          <a:prstGeom prst="roundRect">
            <a:avLst>
              <a:gd name="adj" fmla="val 10588"/>
            </a:avLst>
          </a:prstGeom>
          <a:solidFill>
            <a:srgbClr val="121A2E"/>
          </a:solidFill>
          <a:ln w="9525">
            <a:solidFill>
              <a:srgbClr val="2A3555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7662672" y="3355848"/>
            <a:ext cx="292608" cy="292608"/>
          </a:xfrm>
          <a:prstGeom prst="ellipse">
            <a:avLst/>
          </a:prstGeom>
          <a:solidFill>
            <a:srgbClr val="34D399"/>
          </a:solidFill>
          <a:ln/>
        </p:spPr>
      </p:sp>
      <p:sp>
        <p:nvSpPr>
          <p:cNvPr id="24" name="Text 22"/>
          <p:cNvSpPr txBox="1"/>
          <p:nvPr/>
        </p:nvSpPr>
        <p:spPr>
          <a:xfrm>
            <a:off x="7662672" y="3355848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A0F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300" dirty="0"/>
          </a:p>
        </p:txBody>
      </p:sp>
      <p:sp>
        <p:nvSpPr>
          <p:cNvPr id="25" name="Text 23"/>
          <p:cNvSpPr txBox="1"/>
          <p:nvPr/>
        </p:nvSpPr>
        <p:spPr>
          <a:xfrm>
            <a:off x="7653528" y="3685032"/>
            <a:ext cx="1874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3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Retryable failure types</a:t>
            </a:r>
            <a:endParaRPr lang="en-US" sz="930" dirty="0"/>
          </a:p>
        </p:txBody>
      </p:sp>
      <p:sp>
        <p:nvSpPr>
          <p:cNvPr id="26" name="Shape 24"/>
          <p:cNvSpPr/>
          <p:nvPr/>
        </p:nvSpPr>
        <p:spPr>
          <a:xfrm>
            <a:off x="9838944" y="3246120"/>
            <a:ext cx="2148840" cy="777240"/>
          </a:xfrm>
          <a:prstGeom prst="roundRect">
            <a:avLst>
              <a:gd name="adj" fmla="val 10588"/>
            </a:avLst>
          </a:prstGeom>
          <a:solidFill>
            <a:srgbClr val="121A2E"/>
          </a:solidFill>
          <a:ln w="9525">
            <a:solidFill>
              <a:srgbClr val="2A3555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9985248" y="3355848"/>
            <a:ext cx="292608" cy="292608"/>
          </a:xfrm>
          <a:prstGeom prst="ellipse">
            <a:avLst/>
          </a:prstGeom>
          <a:solidFill>
            <a:srgbClr val="34D399"/>
          </a:solidFill>
          <a:ln/>
        </p:spPr>
      </p:sp>
      <p:sp>
        <p:nvSpPr>
          <p:cNvPr id="28" name="Text 26"/>
          <p:cNvSpPr txBox="1"/>
          <p:nvPr/>
        </p:nvSpPr>
        <p:spPr>
          <a:xfrm>
            <a:off x="9985248" y="3355848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A0F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300" dirty="0"/>
          </a:p>
        </p:txBody>
      </p:sp>
      <p:sp>
        <p:nvSpPr>
          <p:cNvPr id="29" name="Text 27"/>
          <p:cNvSpPr txBox="1"/>
          <p:nvPr/>
        </p:nvSpPr>
        <p:spPr>
          <a:xfrm>
            <a:off x="9976104" y="3685032"/>
            <a:ext cx="1874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3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Human-review conditions</a:t>
            </a:r>
            <a:endParaRPr lang="en-US" sz="930" dirty="0"/>
          </a:p>
        </p:txBody>
      </p:sp>
      <p:sp>
        <p:nvSpPr>
          <p:cNvPr id="30" name="Shape 28"/>
          <p:cNvSpPr/>
          <p:nvPr/>
        </p:nvSpPr>
        <p:spPr>
          <a:xfrm>
            <a:off x="6013552" y="4114800"/>
            <a:ext cx="164592" cy="274320"/>
          </a:xfrm>
          <a:prstGeom prst="downArrow">
            <a:avLst/>
          </a:prstGeom>
          <a:solidFill>
            <a:srgbClr val="6B7A9E"/>
          </a:solidFill>
          <a:ln/>
        </p:spPr>
      </p:sp>
      <p:sp>
        <p:nvSpPr>
          <p:cNvPr id="31" name="Shape 29"/>
          <p:cNvSpPr/>
          <p:nvPr/>
        </p:nvSpPr>
        <p:spPr>
          <a:xfrm>
            <a:off x="548640" y="4526280"/>
            <a:ext cx="3291840" cy="502920"/>
          </a:xfrm>
          <a:prstGeom prst="roundRect">
            <a:avLst>
              <a:gd name="adj" fmla="val 16364"/>
            </a:avLst>
          </a:prstGeom>
          <a:solidFill>
            <a:srgbClr val="182140"/>
          </a:solidFill>
          <a:ln w="9525">
            <a:solidFill>
              <a:srgbClr val="2A3555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32" name="Text 30"/>
          <p:cNvSpPr txBox="1"/>
          <p:nvPr/>
        </p:nvSpPr>
        <p:spPr>
          <a:xfrm>
            <a:off x="548640" y="4526280"/>
            <a:ext cx="3291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9BA8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Policy passes</a:t>
            </a:r>
            <a:endParaRPr lang="en-US" sz="1250" dirty="0"/>
          </a:p>
        </p:txBody>
      </p:sp>
      <p:sp>
        <p:nvSpPr>
          <p:cNvPr id="33" name="Shape 31"/>
          <p:cNvSpPr/>
          <p:nvPr/>
        </p:nvSpPr>
        <p:spPr>
          <a:xfrm>
            <a:off x="2112264" y="5056632"/>
            <a:ext cx="164592" cy="256032"/>
          </a:xfrm>
          <a:prstGeom prst="downArrow">
            <a:avLst/>
          </a:prstGeom>
          <a:solidFill>
            <a:srgbClr val="34D399"/>
          </a:solidFill>
          <a:ln/>
        </p:spPr>
      </p:sp>
      <p:sp>
        <p:nvSpPr>
          <p:cNvPr id="34" name="Shape 32"/>
          <p:cNvSpPr/>
          <p:nvPr/>
        </p:nvSpPr>
        <p:spPr>
          <a:xfrm>
            <a:off x="1188720" y="5367528"/>
            <a:ext cx="2011680" cy="502920"/>
          </a:xfrm>
          <a:prstGeom prst="roundRect">
            <a:avLst>
              <a:gd name="adj" fmla="val 50000"/>
            </a:avLst>
          </a:prstGeom>
          <a:solidFill>
            <a:srgbClr val="34D399"/>
          </a:solidFill>
          <a:ln/>
        </p:spPr>
      </p:sp>
      <p:sp>
        <p:nvSpPr>
          <p:cNvPr id="35" name="Text 33"/>
          <p:cNvSpPr txBox="1"/>
          <p:nvPr/>
        </p:nvSpPr>
        <p:spPr>
          <a:xfrm>
            <a:off x="1188720" y="5367528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50" kern="0" dirty="0">
                <a:solidFill>
                  <a:srgbClr val="0A0F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APPROVED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4453128" y="4526280"/>
            <a:ext cx="3291840" cy="502920"/>
          </a:xfrm>
          <a:prstGeom prst="roundRect">
            <a:avLst>
              <a:gd name="adj" fmla="val 16364"/>
            </a:avLst>
          </a:prstGeom>
          <a:solidFill>
            <a:srgbClr val="182140"/>
          </a:solidFill>
          <a:ln w="9525">
            <a:solidFill>
              <a:srgbClr val="2A3555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37" name="Text 35"/>
          <p:cNvSpPr txBox="1"/>
          <p:nvPr/>
        </p:nvSpPr>
        <p:spPr>
          <a:xfrm>
            <a:off x="4453128" y="4526280"/>
            <a:ext cx="3291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9BA8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Policy concern</a:t>
            </a:r>
            <a:endParaRPr lang="en-US" sz="1250" dirty="0"/>
          </a:p>
        </p:txBody>
      </p:sp>
      <p:sp>
        <p:nvSpPr>
          <p:cNvPr id="38" name="Shape 36"/>
          <p:cNvSpPr/>
          <p:nvPr/>
        </p:nvSpPr>
        <p:spPr>
          <a:xfrm>
            <a:off x="6016752" y="5056632"/>
            <a:ext cx="164592" cy="256032"/>
          </a:xfrm>
          <a:prstGeom prst="downArrow">
            <a:avLst/>
          </a:prstGeom>
          <a:solidFill>
            <a:srgbClr val="F5A623"/>
          </a:solidFill>
          <a:ln/>
        </p:spPr>
      </p:sp>
      <p:sp>
        <p:nvSpPr>
          <p:cNvPr id="39" name="Shape 37"/>
          <p:cNvSpPr/>
          <p:nvPr/>
        </p:nvSpPr>
        <p:spPr>
          <a:xfrm>
            <a:off x="5093208" y="5367528"/>
            <a:ext cx="2011680" cy="502920"/>
          </a:xfrm>
          <a:prstGeom prst="roundRect">
            <a:avLst>
              <a:gd name="adj" fmla="val 50000"/>
            </a:avLst>
          </a:prstGeom>
          <a:solidFill>
            <a:srgbClr val="F5A623"/>
          </a:solidFill>
          <a:ln/>
        </p:spPr>
      </p:sp>
      <p:sp>
        <p:nvSpPr>
          <p:cNvPr id="40" name="Text 38"/>
          <p:cNvSpPr txBox="1"/>
          <p:nvPr/>
        </p:nvSpPr>
        <p:spPr>
          <a:xfrm>
            <a:off x="5093208" y="5367528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50" kern="0" dirty="0">
                <a:solidFill>
                  <a:srgbClr val="0A0F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 REVIEW</a:t>
            </a:r>
            <a:endParaRPr lang="en-US" sz="1100" dirty="0"/>
          </a:p>
        </p:txBody>
      </p:sp>
      <p:sp>
        <p:nvSpPr>
          <p:cNvPr id="41" name="Shape 39"/>
          <p:cNvSpPr/>
          <p:nvPr/>
        </p:nvSpPr>
        <p:spPr>
          <a:xfrm>
            <a:off x="8348472" y="4526280"/>
            <a:ext cx="3291840" cy="502920"/>
          </a:xfrm>
          <a:prstGeom prst="roundRect">
            <a:avLst>
              <a:gd name="adj" fmla="val 16364"/>
            </a:avLst>
          </a:prstGeom>
          <a:solidFill>
            <a:srgbClr val="182140"/>
          </a:solidFill>
          <a:ln w="9525">
            <a:solidFill>
              <a:srgbClr val="2A3555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42" name="Text 40"/>
          <p:cNvSpPr txBox="1"/>
          <p:nvPr/>
        </p:nvSpPr>
        <p:spPr>
          <a:xfrm>
            <a:off x="8348472" y="4526280"/>
            <a:ext cx="3291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9BA8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Retry limit reached</a:t>
            </a:r>
            <a:endParaRPr lang="en-US" sz="1250" dirty="0"/>
          </a:p>
        </p:txBody>
      </p:sp>
      <p:sp>
        <p:nvSpPr>
          <p:cNvPr id="43" name="Shape 41"/>
          <p:cNvSpPr/>
          <p:nvPr/>
        </p:nvSpPr>
        <p:spPr>
          <a:xfrm>
            <a:off x="9912096" y="5056632"/>
            <a:ext cx="164592" cy="256032"/>
          </a:xfrm>
          <a:prstGeom prst="downArrow">
            <a:avLst/>
          </a:prstGeom>
          <a:solidFill>
            <a:srgbClr val="F0554B"/>
          </a:solidFill>
          <a:ln/>
        </p:spPr>
      </p:sp>
      <p:sp>
        <p:nvSpPr>
          <p:cNvPr id="44" name="Shape 42"/>
          <p:cNvSpPr/>
          <p:nvPr/>
        </p:nvSpPr>
        <p:spPr>
          <a:xfrm>
            <a:off x="8988552" y="5367528"/>
            <a:ext cx="2011680" cy="502920"/>
          </a:xfrm>
          <a:prstGeom prst="roundRect">
            <a:avLst>
              <a:gd name="adj" fmla="val 50000"/>
            </a:avLst>
          </a:prstGeom>
          <a:solidFill>
            <a:srgbClr val="F0554B"/>
          </a:solidFill>
          <a:ln/>
        </p:spPr>
      </p:sp>
      <p:sp>
        <p:nvSpPr>
          <p:cNvPr id="45" name="Text 43"/>
          <p:cNvSpPr txBox="1"/>
          <p:nvPr/>
        </p:nvSpPr>
        <p:spPr>
          <a:xfrm>
            <a:off x="8988552" y="5367528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50" kern="0" dirty="0">
                <a:solidFill>
                  <a:srgbClr val="0A0F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STOPPED</a:t>
            </a:r>
            <a:endParaRPr lang="en-US" sz="1100" dirty="0"/>
          </a:p>
        </p:txBody>
      </p:sp>
      <p:sp>
        <p:nvSpPr>
          <p:cNvPr id="46" name="Text 44"/>
          <p:cNvSpPr txBox="1"/>
          <p:nvPr/>
        </p:nvSpPr>
        <p:spPr>
          <a:xfrm>
            <a:off x="548640" y="6263640"/>
            <a:ext cx="110916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9BA8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AI cannot bypass the policy engine — every recommendation is checked before it becomes an action.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F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 — WALKTHROUGH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Example: Safe Automatic Recovery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965960"/>
            <a:ext cx="5577840" cy="4114800"/>
          </a:xfrm>
          <a:prstGeom prst="roundRect">
            <a:avLst>
              <a:gd name="adj" fmla="val 2000"/>
            </a:avLst>
          </a:prstGeom>
          <a:solidFill>
            <a:srgbClr val="121A2E"/>
          </a:solidFill>
          <a:ln w="9525">
            <a:solidFill>
              <a:srgbClr val="2A3555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868680" y="2221992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20" kern="0" dirty="0">
                <a:solidFill>
                  <a:srgbClr val="9BA8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PAYMENT DECISION</a:t>
            </a:r>
            <a:endParaRPr lang="en-US" sz="1100" dirty="0"/>
          </a:p>
        </p:txBody>
      </p:sp>
      <p:sp>
        <p:nvSpPr>
          <p:cNvPr id="6" name="Text 4"/>
          <p:cNvSpPr txBox="1"/>
          <p:nvPr/>
        </p:nvSpPr>
        <p:spPr>
          <a:xfrm>
            <a:off x="868680" y="2496312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pay_demo_RETRY</a:t>
            </a:r>
            <a:endParaRPr lang="en-US" sz="1700" dirty="0"/>
          </a:p>
        </p:txBody>
      </p:sp>
      <p:sp>
        <p:nvSpPr>
          <p:cNvPr id="7" name="Text 5"/>
          <p:cNvSpPr txBox="1"/>
          <p:nvPr/>
        </p:nvSpPr>
        <p:spPr>
          <a:xfrm>
            <a:off x="868680" y="3017520"/>
            <a:ext cx="2834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9BA8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Amount</a:t>
            </a:r>
            <a:endParaRPr lang="en-US" sz="1250" dirty="0"/>
          </a:p>
        </p:txBody>
      </p:sp>
      <p:sp>
        <p:nvSpPr>
          <p:cNvPr id="8" name="Text 6"/>
          <p:cNvSpPr txBox="1"/>
          <p:nvPr/>
        </p:nvSpPr>
        <p:spPr>
          <a:xfrm>
            <a:off x="3657600" y="3017520"/>
            <a:ext cx="2148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₹2,000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868680" y="3401568"/>
            <a:ext cx="4937760" cy="0"/>
          </a:xfrm>
          <a:prstGeom prst="line">
            <a:avLst/>
          </a:prstGeom>
          <a:noFill/>
          <a:ln w="9525">
            <a:solidFill>
              <a:srgbClr val="2A3555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868680" y="3401568"/>
            <a:ext cx="2834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9BA8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Failure</a:t>
            </a:r>
            <a:endParaRPr lang="en-US" sz="1250" dirty="0"/>
          </a:p>
        </p:txBody>
      </p:sp>
      <p:sp>
        <p:nvSpPr>
          <p:cNvPr id="11" name="Text 9"/>
          <p:cNvSpPr txBox="1"/>
          <p:nvPr/>
        </p:nvSpPr>
        <p:spPr>
          <a:xfrm>
            <a:off x="3657600" y="3401568"/>
            <a:ext cx="2148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bank_timeout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868680" y="3785616"/>
            <a:ext cx="4937760" cy="0"/>
          </a:xfrm>
          <a:prstGeom prst="line">
            <a:avLst/>
          </a:prstGeom>
          <a:noFill/>
          <a:ln w="9525">
            <a:solidFill>
              <a:srgbClr val="2A3555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868680" y="3785616"/>
            <a:ext cx="2834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9BA8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Attempt</a:t>
            </a:r>
            <a:endParaRPr lang="en-US" sz="1250" dirty="0"/>
          </a:p>
        </p:txBody>
      </p:sp>
      <p:sp>
        <p:nvSpPr>
          <p:cNvPr id="14" name="Text 12"/>
          <p:cNvSpPr txBox="1"/>
          <p:nvPr/>
        </p:nvSpPr>
        <p:spPr>
          <a:xfrm>
            <a:off x="3657600" y="3785616"/>
            <a:ext cx="2148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868680" y="4169664"/>
            <a:ext cx="4937760" cy="0"/>
          </a:xfrm>
          <a:prstGeom prst="line">
            <a:avLst/>
          </a:prstGeom>
          <a:noFill/>
          <a:ln w="9525">
            <a:solidFill>
              <a:srgbClr val="2A3555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868680" y="4169664"/>
            <a:ext cx="2834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9BA8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Recovery Probability</a:t>
            </a:r>
            <a:endParaRPr lang="en-US" sz="1250" dirty="0"/>
          </a:p>
        </p:txBody>
      </p:sp>
      <p:sp>
        <p:nvSpPr>
          <p:cNvPr id="17" name="Text 15"/>
          <p:cNvSpPr txBox="1"/>
          <p:nvPr/>
        </p:nvSpPr>
        <p:spPr>
          <a:xfrm>
            <a:off x="3657600" y="4169664"/>
            <a:ext cx="2148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87.4%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868680" y="4553712"/>
            <a:ext cx="4937760" cy="0"/>
          </a:xfrm>
          <a:prstGeom prst="line">
            <a:avLst/>
          </a:prstGeom>
          <a:noFill/>
          <a:ln w="9525">
            <a:solidFill>
              <a:srgbClr val="2A3555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868680" y="4553712"/>
            <a:ext cx="2834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9BA8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Recommended Action</a:t>
            </a:r>
            <a:endParaRPr lang="en-US" sz="1250" dirty="0"/>
          </a:p>
        </p:txBody>
      </p:sp>
      <p:sp>
        <p:nvSpPr>
          <p:cNvPr id="20" name="Text 18"/>
          <p:cNvSpPr txBox="1"/>
          <p:nvPr/>
        </p:nvSpPr>
        <p:spPr>
          <a:xfrm>
            <a:off x="3657600" y="4553712"/>
            <a:ext cx="2148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RETRY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868680" y="4937760"/>
            <a:ext cx="4937760" cy="0"/>
          </a:xfrm>
          <a:prstGeom prst="line">
            <a:avLst/>
          </a:prstGeom>
          <a:noFill/>
          <a:ln w="9525">
            <a:solidFill>
              <a:srgbClr val="2A3555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868680" y="4937760"/>
            <a:ext cx="2834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9BA8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Policy</a:t>
            </a:r>
            <a:endParaRPr lang="en-US" sz="1250" dirty="0"/>
          </a:p>
        </p:txBody>
      </p:sp>
      <p:sp>
        <p:nvSpPr>
          <p:cNvPr id="23" name="Text 21"/>
          <p:cNvSpPr txBox="1"/>
          <p:nvPr/>
        </p:nvSpPr>
        <p:spPr>
          <a:xfrm>
            <a:off x="3657600" y="4937760"/>
            <a:ext cx="2148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5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APPROVED</a:t>
            </a:r>
            <a:endParaRPr lang="en-US" sz="1250" dirty="0"/>
          </a:p>
        </p:txBody>
      </p:sp>
      <p:sp>
        <p:nvSpPr>
          <p:cNvPr id="24" name="Shape 22"/>
          <p:cNvSpPr/>
          <p:nvPr/>
        </p:nvSpPr>
        <p:spPr>
          <a:xfrm>
            <a:off x="868680" y="5458968"/>
            <a:ext cx="4937760" cy="457200"/>
          </a:xfrm>
          <a:prstGeom prst="roundRect">
            <a:avLst>
              <a:gd name="adj" fmla="val 50000"/>
            </a:avLst>
          </a:prstGeom>
          <a:solidFill>
            <a:srgbClr val="34D399"/>
          </a:solidFill>
          <a:ln/>
        </p:spPr>
      </p:sp>
      <p:sp>
        <p:nvSpPr>
          <p:cNvPr id="25" name="Text 23"/>
          <p:cNvSpPr txBox="1"/>
          <p:nvPr/>
        </p:nvSpPr>
        <p:spPr>
          <a:xfrm>
            <a:off x="868680" y="5458968"/>
            <a:ext cx="4937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50" kern="0" dirty="0">
                <a:solidFill>
                  <a:srgbClr val="0A0F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OUTCOME:  AUTOMATED RETRY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6492240" y="1965960"/>
            <a:ext cx="5148072" cy="658368"/>
          </a:xfrm>
          <a:prstGeom prst="roundRect">
            <a:avLst>
              <a:gd name="adj" fmla="val 12500"/>
            </a:avLst>
          </a:prstGeom>
          <a:solidFill>
            <a:srgbClr val="182140"/>
          </a:solidFill>
          <a:ln w="9525">
            <a:solidFill>
              <a:srgbClr val="2A3555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27" name="Text 25"/>
          <p:cNvSpPr txBox="1"/>
          <p:nvPr/>
        </p:nvSpPr>
        <p:spPr>
          <a:xfrm>
            <a:off x="6766560" y="1965960"/>
            <a:ext cx="331927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87.4%</a:t>
            </a:r>
            <a:endParaRPr lang="en-US" sz="1500" dirty="0"/>
          </a:p>
        </p:txBody>
      </p:sp>
      <p:sp>
        <p:nvSpPr>
          <p:cNvPr id="28" name="Text 26"/>
          <p:cNvSpPr txBox="1"/>
          <p:nvPr/>
        </p:nvSpPr>
        <p:spPr>
          <a:xfrm>
            <a:off x="9902952" y="1965960"/>
            <a:ext cx="1554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9BA8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Recovery Probability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8983980" y="2642616"/>
            <a:ext cx="164592" cy="164592"/>
          </a:xfrm>
          <a:prstGeom prst="downArrow">
            <a:avLst/>
          </a:prstGeom>
          <a:solidFill>
            <a:srgbClr val="6B7A9E"/>
          </a:solidFill>
          <a:ln/>
        </p:spPr>
      </p:sp>
      <p:sp>
        <p:nvSpPr>
          <p:cNvPr id="30" name="Shape 28"/>
          <p:cNvSpPr/>
          <p:nvPr/>
        </p:nvSpPr>
        <p:spPr>
          <a:xfrm>
            <a:off x="6492240" y="2825496"/>
            <a:ext cx="5148072" cy="658368"/>
          </a:xfrm>
          <a:prstGeom prst="roundRect">
            <a:avLst>
              <a:gd name="adj" fmla="val 12500"/>
            </a:avLst>
          </a:prstGeom>
          <a:solidFill>
            <a:srgbClr val="182140"/>
          </a:solidFill>
          <a:ln w="9525">
            <a:solidFill>
              <a:srgbClr val="2A3555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31" name="Text 29"/>
          <p:cNvSpPr txBox="1"/>
          <p:nvPr/>
        </p:nvSpPr>
        <p:spPr>
          <a:xfrm>
            <a:off x="6766560" y="2825496"/>
            <a:ext cx="331927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RETRY</a:t>
            </a:r>
            <a:endParaRPr lang="en-US" sz="1500" dirty="0"/>
          </a:p>
        </p:txBody>
      </p:sp>
      <p:sp>
        <p:nvSpPr>
          <p:cNvPr id="32" name="Text 30"/>
          <p:cNvSpPr txBox="1"/>
          <p:nvPr/>
        </p:nvSpPr>
        <p:spPr>
          <a:xfrm>
            <a:off x="9902952" y="2825496"/>
            <a:ext cx="1554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9BA8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Recommendation</a:t>
            </a:r>
            <a:endParaRPr lang="en-US" sz="950" dirty="0"/>
          </a:p>
        </p:txBody>
      </p:sp>
      <p:sp>
        <p:nvSpPr>
          <p:cNvPr id="33" name="Shape 31"/>
          <p:cNvSpPr/>
          <p:nvPr/>
        </p:nvSpPr>
        <p:spPr>
          <a:xfrm>
            <a:off x="8983980" y="3502152"/>
            <a:ext cx="164592" cy="164592"/>
          </a:xfrm>
          <a:prstGeom prst="downArrow">
            <a:avLst/>
          </a:prstGeom>
          <a:solidFill>
            <a:srgbClr val="6B7A9E"/>
          </a:solidFill>
          <a:ln/>
        </p:spPr>
      </p:sp>
      <p:sp>
        <p:nvSpPr>
          <p:cNvPr id="34" name="Shape 32"/>
          <p:cNvSpPr/>
          <p:nvPr/>
        </p:nvSpPr>
        <p:spPr>
          <a:xfrm>
            <a:off x="6492240" y="3685032"/>
            <a:ext cx="5148072" cy="658368"/>
          </a:xfrm>
          <a:prstGeom prst="roundRect">
            <a:avLst>
              <a:gd name="adj" fmla="val 12500"/>
            </a:avLst>
          </a:prstGeom>
          <a:solidFill>
            <a:srgbClr val="182140"/>
          </a:solidFill>
          <a:ln w="9525">
            <a:solidFill>
              <a:srgbClr val="2A3555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35" name="Text 33"/>
          <p:cNvSpPr txBox="1"/>
          <p:nvPr/>
        </p:nvSpPr>
        <p:spPr>
          <a:xfrm>
            <a:off x="6766560" y="3685032"/>
            <a:ext cx="331927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POLICY CHECKS</a:t>
            </a:r>
            <a:endParaRPr lang="en-US" sz="1500" dirty="0"/>
          </a:p>
        </p:txBody>
      </p:sp>
      <p:sp>
        <p:nvSpPr>
          <p:cNvPr id="36" name="Text 34"/>
          <p:cNvSpPr txBox="1"/>
          <p:nvPr/>
        </p:nvSpPr>
        <p:spPr>
          <a:xfrm>
            <a:off x="9902952" y="3685032"/>
            <a:ext cx="1554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9BA8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Deterministic Guardrails</a:t>
            </a:r>
            <a:endParaRPr lang="en-US" sz="950" dirty="0"/>
          </a:p>
        </p:txBody>
      </p:sp>
      <p:sp>
        <p:nvSpPr>
          <p:cNvPr id="37" name="Shape 35"/>
          <p:cNvSpPr/>
          <p:nvPr/>
        </p:nvSpPr>
        <p:spPr>
          <a:xfrm>
            <a:off x="8983980" y="4361688"/>
            <a:ext cx="164592" cy="164592"/>
          </a:xfrm>
          <a:prstGeom prst="downArrow">
            <a:avLst/>
          </a:prstGeom>
          <a:solidFill>
            <a:srgbClr val="6B7A9E"/>
          </a:solidFill>
          <a:ln/>
        </p:spPr>
      </p:sp>
      <p:sp>
        <p:nvSpPr>
          <p:cNvPr id="38" name="Shape 36"/>
          <p:cNvSpPr/>
          <p:nvPr/>
        </p:nvSpPr>
        <p:spPr>
          <a:xfrm>
            <a:off x="6492240" y="4544568"/>
            <a:ext cx="5148072" cy="658368"/>
          </a:xfrm>
          <a:prstGeom prst="roundRect">
            <a:avLst>
              <a:gd name="adj" fmla="val 12500"/>
            </a:avLst>
          </a:prstGeom>
          <a:solidFill>
            <a:srgbClr val="182140"/>
          </a:solidFill>
          <a:ln w="9525">
            <a:solidFill>
              <a:srgbClr val="2A3555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39" name="Text 37"/>
          <p:cNvSpPr txBox="1"/>
          <p:nvPr/>
        </p:nvSpPr>
        <p:spPr>
          <a:xfrm>
            <a:off x="6766560" y="4544568"/>
            <a:ext cx="331927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APPROVED</a:t>
            </a:r>
            <a:endParaRPr lang="en-US" sz="1500" dirty="0"/>
          </a:p>
        </p:txBody>
      </p:sp>
      <p:sp>
        <p:nvSpPr>
          <p:cNvPr id="40" name="Text 38"/>
          <p:cNvSpPr txBox="1"/>
          <p:nvPr/>
        </p:nvSpPr>
        <p:spPr>
          <a:xfrm>
            <a:off x="9902952" y="4544568"/>
            <a:ext cx="1554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9BA8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Policy Decision</a:t>
            </a:r>
            <a:endParaRPr lang="en-US" sz="950" dirty="0"/>
          </a:p>
        </p:txBody>
      </p:sp>
      <p:sp>
        <p:nvSpPr>
          <p:cNvPr id="41" name="Shape 39"/>
          <p:cNvSpPr/>
          <p:nvPr/>
        </p:nvSpPr>
        <p:spPr>
          <a:xfrm>
            <a:off x="8983980" y="5221224"/>
            <a:ext cx="164592" cy="164592"/>
          </a:xfrm>
          <a:prstGeom prst="downArrow">
            <a:avLst/>
          </a:prstGeom>
          <a:solidFill>
            <a:srgbClr val="6B7A9E"/>
          </a:solidFill>
          <a:ln/>
        </p:spPr>
      </p:sp>
      <p:sp>
        <p:nvSpPr>
          <p:cNvPr id="42" name="Shape 40"/>
          <p:cNvSpPr/>
          <p:nvPr/>
        </p:nvSpPr>
        <p:spPr>
          <a:xfrm>
            <a:off x="6492240" y="5404104"/>
            <a:ext cx="5148072" cy="658368"/>
          </a:xfrm>
          <a:prstGeom prst="roundRect">
            <a:avLst>
              <a:gd name="adj" fmla="val 12500"/>
            </a:avLst>
          </a:prstGeom>
          <a:solidFill>
            <a:srgbClr val="182140"/>
          </a:solidFill>
          <a:ln w="9525">
            <a:solidFill>
              <a:srgbClr val="2A3555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43" name="Text 41"/>
          <p:cNvSpPr txBox="1"/>
          <p:nvPr/>
        </p:nvSpPr>
        <p:spPr>
          <a:xfrm>
            <a:off x="6766560" y="5404104"/>
            <a:ext cx="331927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AUTOMATED RECOVERY</a:t>
            </a:r>
            <a:endParaRPr lang="en-US" sz="1500" dirty="0"/>
          </a:p>
        </p:txBody>
      </p:sp>
      <p:sp>
        <p:nvSpPr>
          <p:cNvPr id="44" name="Text 42"/>
          <p:cNvSpPr txBox="1"/>
          <p:nvPr/>
        </p:nvSpPr>
        <p:spPr>
          <a:xfrm>
            <a:off x="9902952" y="5404104"/>
            <a:ext cx="1554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9BA8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Executed Outcome</a:t>
            </a:r>
            <a:endParaRPr lang="en-US" sz="950" dirty="0"/>
          </a:p>
        </p:txBody>
      </p:sp>
      <p:sp>
        <p:nvSpPr>
          <p:cNvPr id="45" name="Text 43"/>
          <p:cNvSpPr txBox="1"/>
          <p:nvPr/>
        </p:nvSpPr>
        <p:spPr>
          <a:xfrm>
            <a:off x="457200" y="6528816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6B7A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RECOVERAI</a:t>
            </a:r>
            <a:endParaRPr lang="en-US" sz="900" dirty="0"/>
          </a:p>
        </p:txBody>
      </p:sp>
      <p:sp>
        <p:nvSpPr>
          <p:cNvPr id="46" name="Text 44"/>
          <p:cNvSpPr txBox="1"/>
          <p:nvPr/>
        </p:nvSpPr>
        <p:spPr>
          <a:xfrm>
            <a:off x="8074152" y="6528816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A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Razorpay AI Buildathon 2026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F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 — WALKTHROUGH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2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When Confidence Is Low, Automation Stops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723748" y="1965960"/>
            <a:ext cx="5120640" cy="3017520"/>
          </a:xfrm>
          <a:prstGeom prst="roundRect">
            <a:avLst>
              <a:gd name="adj" fmla="val 2727"/>
            </a:avLst>
          </a:prstGeom>
          <a:solidFill>
            <a:srgbClr val="121A2E"/>
          </a:solidFill>
          <a:ln w="9525">
            <a:solidFill>
              <a:srgbClr val="2A3555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723748" y="2221992"/>
            <a:ext cx="5120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spc="150" kern="0" dirty="0">
                <a:solidFill>
                  <a:srgbClr val="9BA8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CONFIDENCE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723748" y="2606040"/>
            <a:ext cx="5120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60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87.4%</a:t>
            </a:r>
            <a:endParaRPr lang="en-US" sz="4600" dirty="0"/>
          </a:p>
        </p:txBody>
      </p:sp>
      <p:sp>
        <p:nvSpPr>
          <p:cNvPr id="7" name="Shape 5"/>
          <p:cNvSpPr/>
          <p:nvPr/>
        </p:nvSpPr>
        <p:spPr>
          <a:xfrm>
            <a:off x="3201772" y="3447288"/>
            <a:ext cx="164592" cy="274320"/>
          </a:xfrm>
          <a:prstGeom prst="downArrow">
            <a:avLst/>
          </a:prstGeom>
          <a:solidFill>
            <a:srgbClr val="6B7A9E"/>
          </a:solidFill>
          <a:ln/>
        </p:spPr>
      </p:sp>
      <p:sp>
        <p:nvSpPr>
          <p:cNvPr id="8" name="Shape 6"/>
          <p:cNvSpPr/>
          <p:nvPr/>
        </p:nvSpPr>
        <p:spPr>
          <a:xfrm>
            <a:off x="2278228" y="3794760"/>
            <a:ext cx="2011680" cy="438912"/>
          </a:xfrm>
          <a:prstGeom prst="roundRect">
            <a:avLst>
              <a:gd name="adj" fmla="val 50000"/>
            </a:avLst>
          </a:prstGeom>
          <a:solidFill>
            <a:srgbClr val="1C2645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2278228" y="3794760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50" kern="0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RETRY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201772" y="4297680"/>
            <a:ext cx="164592" cy="274320"/>
          </a:xfrm>
          <a:prstGeom prst="downArrow">
            <a:avLst/>
          </a:prstGeom>
          <a:solidFill>
            <a:srgbClr val="6B7A9E"/>
          </a:solidFill>
          <a:ln/>
        </p:spPr>
      </p:sp>
      <p:sp>
        <p:nvSpPr>
          <p:cNvPr id="11" name="Shape 9"/>
          <p:cNvSpPr/>
          <p:nvPr/>
        </p:nvSpPr>
        <p:spPr>
          <a:xfrm>
            <a:off x="2003908" y="4636008"/>
            <a:ext cx="2560320" cy="457200"/>
          </a:xfrm>
          <a:prstGeom prst="roundRect">
            <a:avLst>
              <a:gd name="adj" fmla="val 50000"/>
            </a:avLst>
          </a:prstGeom>
          <a:solidFill>
            <a:srgbClr val="34D399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2003908" y="4636008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50" kern="0" dirty="0">
                <a:solidFill>
                  <a:srgbClr val="0A0F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APPROVED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6347308" y="1965960"/>
            <a:ext cx="5120640" cy="3017520"/>
          </a:xfrm>
          <a:prstGeom prst="roundRect">
            <a:avLst>
              <a:gd name="adj" fmla="val 2727"/>
            </a:avLst>
          </a:prstGeom>
          <a:solidFill>
            <a:srgbClr val="121A2E"/>
          </a:solidFill>
          <a:ln w="9525">
            <a:solidFill>
              <a:srgbClr val="2A3555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14" name="Text 12"/>
          <p:cNvSpPr txBox="1"/>
          <p:nvPr/>
        </p:nvSpPr>
        <p:spPr>
          <a:xfrm>
            <a:off x="6347308" y="2221992"/>
            <a:ext cx="5120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spc="150" kern="0" dirty="0">
                <a:solidFill>
                  <a:srgbClr val="9BA8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 CONFIDENCE</a:t>
            </a:r>
            <a:endParaRPr lang="en-US" sz="1300" dirty="0"/>
          </a:p>
        </p:txBody>
      </p:sp>
      <p:sp>
        <p:nvSpPr>
          <p:cNvPr id="15" name="Text 13"/>
          <p:cNvSpPr txBox="1"/>
          <p:nvPr/>
        </p:nvSpPr>
        <p:spPr>
          <a:xfrm>
            <a:off x="6347308" y="2606040"/>
            <a:ext cx="5120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6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23.4%</a:t>
            </a:r>
            <a:endParaRPr lang="en-US" sz="4600" dirty="0"/>
          </a:p>
        </p:txBody>
      </p:sp>
      <p:sp>
        <p:nvSpPr>
          <p:cNvPr id="16" name="Shape 14"/>
          <p:cNvSpPr/>
          <p:nvPr/>
        </p:nvSpPr>
        <p:spPr>
          <a:xfrm>
            <a:off x="8825332" y="3447288"/>
            <a:ext cx="164592" cy="274320"/>
          </a:xfrm>
          <a:prstGeom prst="downArrow">
            <a:avLst/>
          </a:prstGeom>
          <a:solidFill>
            <a:srgbClr val="6B7A9E"/>
          </a:solidFill>
          <a:ln/>
        </p:spPr>
      </p:sp>
      <p:sp>
        <p:nvSpPr>
          <p:cNvPr id="17" name="Shape 15"/>
          <p:cNvSpPr/>
          <p:nvPr/>
        </p:nvSpPr>
        <p:spPr>
          <a:xfrm>
            <a:off x="7901788" y="3794760"/>
            <a:ext cx="2011680" cy="438912"/>
          </a:xfrm>
          <a:prstGeom prst="roundRect">
            <a:avLst>
              <a:gd name="adj" fmla="val 50000"/>
            </a:avLst>
          </a:prstGeom>
          <a:solidFill>
            <a:srgbClr val="1C2645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7901788" y="3794760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50" kern="0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ESCALATE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8825332" y="4297680"/>
            <a:ext cx="164592" cy="274320"/>
          </a:xfrm>
          <a:prstGeom prst="downArrow">
            <a:avLst/>
          </a:prstGeom>
          <a:solidFill>
            <a:srgbClr val="6B7A9E"/>
          </a:solidFill>
          <a:ln/>
        </p:spPr>
      </p:sp>
      <p:sp>
        <p:nvSpPr>
          <p:cNvPr id="20" name="Shape 18"/>
          <p:cNvSpPr/>
          <p:nvPr/>
        </p:nvSpPr>
        <p:spPr>
          <a:xfrm>
            <a:off x="7627468" y="4636008"/>
            <a:ext cx="2560320" cy="457200"/>
          </a:xfrm>
          <a:prstGeom prst="roundRect">
            <a:avLst>
              <a:gd name="adj" fmla="val 50000"/>
            </a:avLst>
          </a:prstGeom>
          <a:solidFill>
            <a:srgbClr val="F5A623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7627468" y="4636008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50" kern="0" dirty="0">
                <a:solidFill>
                  <a:srgbClr val="0A0F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 REVIEW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723748" y="5303520"/>
            <a:ext cx="10744200" cy="777240"/>
          </a:xfrm>
          <a:prstGeom prst="roundRect">
            <a:avLst>
              <a:gd name="adj" fmla="val 10588"/>
            </a:avLst>
          </a:prstGeom>
          <a:solidFill>
            <a:srgbClr val="182140"/>
          </a:solidFill>
          <a:ln w="9525">
            <a:solidFill>
              <a:srgbClr val="2A3555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23" name="Text 21"/>
          <p:cNvSpPr txBox="1"/>
          <p:nvPr/>
        </p:nvSpPr>
        <p:spPr>
          <a:xfrm>
            <a:off x="998068" y="5303520"/>
            <a:ext cx="101955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F5A62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“AI confidence is too low for automated recovery.”</a:t>
            </a:r>
            <a:endParaRPr lang="en-US" sz="1500" dirty="0"/>
          </a:p>
        </p:txBody>
      </p:sp>
      <p:sp>
        <p:nvSpPr>
          <p:cNvPr id="24" name="Text 22"/>
          <p:cNvSpPr txBox="1"/>
          <p:nvPr/>
        </p:nvSpPr>
        <p:spPr>
          <a:xfrm>
            <a:off x="723748" y="6263640"/>
            <a:ext cx="10744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i="1" dirty="0">
                <a:solidFill>
                  <a:srgbClr val="9BA8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RecoverAI is designed for controlled automation, not unrestricted autonomy.</a:t>
            </a:r>
            <a:endParaRPr lang="en-US" sz="12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F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 — GOVERNANCE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Every Decision Leaves an Audit Trail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2011680"/>
            <a:ext cx="11091672" cy="502920"/>
          </a:xfrm>
          <a:prstGeom prst="roundRect">
            <a:avLst>
              <a:gd name="adj" fmla="val 16364"/>
            </a:avLst>
          </a:prstGeom>
          <a:solidFill>
            <a:srgbClr val="1C2645"/>
          </a:solidFill>
          <a:ln w="9525">
            <a:solidFill>
              <a:srgbClr val="2A3555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85800" y="2011680"/>
            <a:ext cx="1737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50" kern="0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PAYMENT ID</a:t>
            </a:r>
            <a:endParaRPr lang="en-US" sz="1050" dirty="0"/>
          </a:p>
        </p:txBody>
      </p:sp>
      <p:sp>
        <p:nvSpPr>
          <p:cNvPr id="6" name="Text 4"/>
          <p:cNvSpPr txBox="1"/>
          <p:nvPr/>
        </p:nvSpPr>
        <p:spPr>
          <a:xfrm>
            <a:off x="2606040" y="2011680"/>
            <a:ext cx="1234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50" kern="0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</a:t>
            </a:r>
            <a:endParaRPr lang="en-US" sz="1050" dirty="0"/>
          </a:p>
        </p:txBody>
      </p:sp>
      <p:sp>
        <p:nvSpPr>
          <p:cNvPr id="7" name="Text 5"/>
          <p:cNvSpPr txBox="1"/>
          <p:nvPr/>
        </p:nvSpPr>
        <p:spPr>
          <a:xfrm>
            <a:off x="4023360" y="2011680"/>
            <a:ext cx="1371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50" kern="0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</a:t>
            </a:r>
            <a:endParaRPr lang="en-US" sz="1050" dirty="0"/>
          </a:p>
        </p:txBody>
      </p:sp>
      <p:sp>
        <p:nvSpPr>
          <p:cNvPr id="8" name="Text 6"/>
          <p:cNvSpPr txBox="1"/>
          <p:nvPr/>
        </p:nvSpPr>
        <p:spPr>
          <a:xfrm>
            <a:off x="5577840" y="2011680"/>
            <a:ext cx="1234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50" kern="0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RECOVERY PROB.</a:t>
            </a:r>
            <a:endParaRPr lang="en-US" sz="1050" dirty="0"/>
          </a:p>
        </p:txBody>
      </p:sp>
      <p:sp>
        <p:nvSpPr>
          <p:cNvPr id="9" name="Text 7"/>
          <p:cNvSpPr txBox="1"/>
          <p:nvPr/>
        </p:nvSpPr>
        <p:spPr>
          <a:xfrm>
            <a:off x="6995160" y="2011680"/>
            <a:ext cx="33192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50" kern="0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POLICY REASON</a:t>
            </a:r>
            <a:endParaRPr lang="en-US" sz="1050" dirty="0"/>
          </a:p>
        </p:txBody>
      </p:sp>
      <p:sp>
        <p:nvSpPr>
          <p:cNvPr id="10" name="Text 8"/>
          <p:cNvSpPr txBox="1"/>
          <p:nvPr/>
        </p:nvSpPr>
        <p:spPr>
          <a:xfrm>
            <a:off x="10497312" y="2011680"/>
            <a:ext cx="1097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50" kern="0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TIMESTAMP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548640" y="2514600"/>
            <a:ext cx="11091672" cy="685800"/>
          </a:xfrm>
          <a:prstGeom prst="roundRect">
            <a:avLst>
              <a:gd name="adj" fmla="val 12000"/>
            </a:avLst>
          </a:prstGeom>
          <a:solidFill>
            <a:srgbClr val="121A2E"/>
          </a:solidFill>
          <a:ln w="9525">
            <a:solidFill>
              <a:srgbClr val="2A3555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685800" y="2514600"/>
            <a:ext cx="1737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pay_demo_000002</a:t>
            </a:r>
            <a:endParaRPr lang="en-US" sz="1050" dirty="0"/>
          </a:p>
        </p:txBody>
      </p:sp>
      <p:sp>
        <p:nvSpPr>
          <p:cNvPr id="13" name="Text 11"/>
          <p:cNvSpPr txBox="1"/>
          <p:nvPr/>
        </p:nvSpPr>
        <p:spPr>
          <a:xfrm>
            <a:off x="2606040" y="2514600"/>
            <a:ext cx="12344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REMINDER</a:t>
            </a:r>
            <a:endParaRPr lang="en-US" sz="1050" dirty="0"/>
          </a:p>
        </p:txBody>
      </p:sp>
      <p:sp>
        <p:nvSpPr>
          <p:cNvPr id="14" name="Text 12"/>
          <p:cNvSpPr txBox="1"/>
          <p:nvPr/>
        </p:nvSpPr>
        <p:spPr>
          <a:xfrm>
            <a:off x="4023360" y="2514600"/>
            <a:ext cx="1371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APPROVED</a:t>
            </a:r>
            <a:endParaRPr lang="en-US" sz="1050" dirty="0"/>
          </a:p>
        </p:txBody>
      </p:sp>
      <p:sp>
        <p:nvSpPr>
          <p:cNvPr id="15" name="Text 13"/>
          <p:cNvSpPr txBox="1"/>
          <p:nvPr/>
        </p:nvSpPr>
        <p:spPr>
          <a:xfrm>
            <a:off x="5577840" y="2514600"/>
            <a:ext cx="12344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76.7%</a:t>
            </a:r>
            <a:endParaRPr lang="en-US" sz="1050" dirty="0"/>
          </a:p>
        </p:txBody>
      </p:sp>
      <p:sp>
        <p:nvSpPr>
          <p:cNvPr id="16" name="Text 14"/>
          <p:cNvSpPr txBox="1"/>
          <p:nvPr/>
        </p:nvSpPr>
        <p:spPr>
          <a:xfrm>
            <a:off x="6995160" y="2514600"/>
            <a:ext cx="331927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Policy conditions satisfied</a:t>
            </a:r>
            <a:endParaRPr lang="en-US" sz="1050" dirty="0"/>
          </a:p>
        </p:txBody>
      </p:sp>
      <p:sp>
        <p:nvSpPr>
          <p:cNvPr id="17" name="Text 15"/>
          <p:cNvSpPr txBox="1"/>
          <p:nvPr/>
        </p:nvSpPr>
        <p:spPr>
          <a:xfrm>
            <a:off x="10497312" y="2514600"/>
            <a:ext cx="1097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09:14:02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548640" y="3291840"/>
            <a:ext cx="11091672" cy="685800"/>
          </a:xfrm>
          <a:prstGeom prst="roundRect">
            <a:avLst>
              <a:gd name="adj" fmla="val 12000"/>
            </a:avLst>
          </a:prstGeom>
          <a:solidFill>
            <a:srgbClr val="182140"/>
          </a:solidFill>
          <a:ln w="9525">
            <a:solidFill>
              <a:srgbClr val="2A3555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685800" y="3291840"/>
            <a:ext cx="1737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pay_demo_000001</a:t>
            </a:r>
            <a:endParaRPr lang="en-US" sz="1050" dirty="0"/>
          </a:p>
        </p:txBody>
      </p:sp>
      <p:sp>
        <p:nvSpPr>
          <p:cNvPr id="20" name="Text 18"/>
          <p:cNvSpPr txBox="1"/>
          <p:nvPr/>
        </p:nvSpPr>
        <p:spPr>
          <a:xfrm>
            <a:off x="2606040" y="3291840"/>
            <a:ext cx="12344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ESCALATE</a:t>
            </a:r>
            <a:endParaRPr lang="en-US" sz="1050" dirty="0"/>
          </a:p>
        </p:txBody>
      </p:sp>
      <p:sp>
        <p:nvSpPr>
          <p:cNvPr id="21" name="Text 19"/>
          <p:cNvSpPr txBox="1"/>
          <p:nvPr/>
        </p:nvSpPr>
        <p:spPr>
          <a:xfrm>
            <a:off x="4023360" y="3291840"/>
            <a:ext cx="1371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HUMAN_REVIEW</a:t>
            </a:r>
            <a:endParaRPr lang="en-US" sz="1050" dirty="0"/>
          </a:p>
        </p:txBody>
      </p:sp>
      <p:sp>
        <p:nvSpPr>
          <p:cNvPr id="22" name="Text 20"/>
          <p:cNvSpPr txBox="1"/>
          <p:nvPr/>
        </p:nvSpPr>
        <p:spPr>
          <a:xfrm>
            <a:off x="5577840" y="3291840"/>
            <a:ext cx="12344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23.4%</a:t>
            </a:r>
            <a:endParaRPr lang="en-US" sz="1050" dirty="0"/>
          </a:p>
        </p:txBody>
      </p:sp>
      <p:sp>
        <p:nvSpPr>
          <p:cNvPr id="23" name="Text 21"/>
          <p:cNvSpPr txBox="1"/>
          <p:nvPr/>
        </p:nvSpPr>
        <p:spPr>
          <a:xfrm>
            <a:off x="6995160" y="3291840"/>
            <a:ext cx="331927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confidence is too low for automated recovery</a:t>
            </a:r>
            <a:endParaRPr lang="en-US" sz="1050" dirty="0"/>
          </a:p>
        </p:txBody>
      </p:sp>
      <p:sp>
        <p:nvSpPr>
          <p:cNvPr id="24" name="Text 22"/>
          <p:cNvSpPr txBox="1"/>
          <p:nvPr/>
        </p:nvSpPr>
        <p:spPr>
          <a:xfrm>
            <a:off x="10497312" y="3291840"/>
            <a:ext cx="1097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09:12:47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860908" y="4480560"/>
            <a:ext cx="2377440" cy="594360"/>
          </a:xfrm>
          <a:prstGeom prst="roundRect">
            <a:avLst>
              <a:gd name="adj" fmla="val 13846"/>
            </a:avLst>
          </a:prstGeom>
          <a:solidFill>
            <a:srgbClr val="182140"/>
          </a:solidFill>
          <a:ln w="9525">
            <a:solidFill>
              <a:srgbClr val="2A3555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26" name="Text 24"/>
          <p:cNvSpPr txBox="1"/>
          <p:nvPr/>
        </p:nvSpPr>
        <p:spPr>
          <a:xfrm>
            <a:off x="860908" y="4480560"/>
            <a:ext cx="23774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</a:t>
            </a:r>
            <a:endParaRPr lang="en-US" sz="1300" dirty="0"/>
          </a:p>
        </p:txBody>
      </p:sp>
      <p:sp>
        <p:nvSpPr>
          <p:cNvPr id="27" name="Shape 25"/>
          <p:cNvSpPr/>
          <p:nvPr/>
        </p:nvSpPr>
        <p:spPr>
          <a:xfrm>
            <a:off x="3256636" y="4695444"/>
            <a:ext cx="283464" cy="164592"/>
          </a:xfrm>
          <a:prstGeom prst="rightArrow">
            <a:avLst/>
          </a:prstGeom>
          <a:solidFill>
            <a:srgbClr val="2DD4BF"/>
          </a:solidFill>
          <a:ln/>
        </p:spPr>
      </p:sp>
      <p:sp>
        <p:nvSpPr>
          <p:cNvPr id="28" name="Shape 26"/>
          <p:cNvSpPr/>
          <p:nvPr/>
        </p:nvSpPr>
        <p:spPr>
          <a:xfrm>
            <a:off x="3558388" y="4480560"/>
            <a:ext cx="2377440" cy="594360"/>
          </a:xfrm>
          <a:prstGeom prst="roundRect">
            <a:avLst>
              <a:gd name="adj" fmla="val 13846"/>
            </a:avLst>
          </a:prstGeom>
          <a:solidFill>
            <a:srgbClr val="182140"/>
          </a:solidFill>
          <a:ln w="9525">
            <a:solidFill>
              <a:srgbClr val="2A3555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29" name="Text 27"/>
          <p:cNvSpPr txBox="1"/>
          <p:nvPr/>
        </p:nvSpPr>
        <p:spPr>
          <a:xfrm>
            <a:off x="3558388" y="4480560"/>
            <a:ext cx="23774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Policy</a:t>
            </a:r>
            <a:endParaRPr lang="en-US" sz="1300" dirty="0"/>
          </a:p>
        </p:txBody>
      </p:sp>
      <p:sp>
        <p:nvSpPr>
          <p:cNvPr id="30" name="Shape 28"/>
          <p:cNvSpPr/>
          <p:nvPr/>
        </p:nvSpPr>
        <p:spPr>
          <a:xfrm>
            <a:off x="5954116" y="4695444"/>
            <a:ext cx="283464" cy="164592"/>
          </a:xfrm>
          <a:prstGeom prst="rightArrow">
            <a:avLst/>
          </a:prstGeom>
          <a:solidFill>
            <a:srgbClr val="2DD4BF"/>
          </a:solidFill>
          <a:ln/>
        </p:spPr>
      </p:sp>
      <p:sp>
        <p:nvSpPr>
          <p:cNvPr id="31" name="Shape 29"/>
          <p:cNvSpPr/>
          <p:nvPr/>
        </p:nvSpPr>
        <p:spPr>
          <a:xfrm>
            <a:off x="6255868" y="4480560"/>
            <a:ext cx="2377440" cy="594360"/>
          </a:xfrm>
          <a:prstGeom prst="roundRect">
            <a:avLst>
              <a:gd name="adj" fmla="val 13846"/>
            </a:avLst>
          </a:prstGeom>
          <a:solidFill>
            <a:srgbClr val="182140"/>
          </a:solidFill>
          <a:ln w="9525">
            <a:solidFill>
              <a:srgbClr val="2A3555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32" name="Text 30"/>
          <p:cNvSpPr txBox="1"/>
          <p:nvPr/>
        </p:nvSpPr>
        <p:spPr>
          <a:xfrm>
            <a:off x="6255868" y="4480560"/>
            <a:ext cx="23774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Reason</a:t>
            </a:r>
            <a:endParaRPr lang="en-US" sz="1300" dirty="0"/>
          </a:p>
        </p:txBody>
      </p:sp>
      <p:sp>
        <p:nvSpPr>
          <p:cNvPr id="33" name="Shape 31"/>
          <p:cNvSpPr/>
          <p:nvPr/>
        </p:nvSpPr>
        <p:spPr>
          <a:xfrm>
            <a:off x="8651596" y="4695444"/>
            <a:ext cx="283464" cy="164592"/>
          </a:xfrm>
          <a:prstGeom prst="rightArrow">
            <a:avLst/>
          </a:prstGeom>
          <a:solidFill>
            <a:srgbClr val="2DD4BF"/>
          </a:solidFill>
          <a:ln/>
        </p:spPr>
      </p:sp>
      <p:sp>
        <p:nvSpPr>
          <p:cNvPr id="34" name="Shape 32"/>
          <p:cNvSpPr/>
          <p:nvPr/>
        </p:nvSpPr>
        <p:spPr>
          <a:xfrm>
            <a:off x="8953348" y="4480560"/>
            <a:ext cx="2377440" cy="594360"/>
          </a:xfrm>
          <a:prstGeom prst="roundRect">
            <a:avLst>
              <a:gd name="adj" fmla="val 13846"/>
            </a:avLst>
          </a:prstGeom>
          <a:solidFill>
            <a:srgbClr val="182140"/>
          </a:solidFill>
          <a:ln w="9525">
            <a:solidFill>
              <a:srgbClr val="2A3555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35" name="Text 33"/>
          <p:cNvSpPr txBox="1"/>
          <p:nvPr/>
        </p:nvSpPr>
        <p:spPr>
          <a:xfrm>
            <a:off x="8953348" y="4480560"/>
            <a:ext cx="23774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 Record</a:t>
            </a:r>
            <a:endParaRPr lang="en-US" sz="1300" dirty="0"/>
          </a:p>
        </p:txBody>
      </p:sp>
      <p:sp>
        <p:nvSpPr>
          <p:cNvPr id="36" name="Text 34"/>
          <p:cNvSpPr txBox="1"/>
          <p:nvPr/>
        </p:nvSpPr>
        <p:spPr>
          <a:xfrm>
            <a:off x="548640" y="5349240"/>
            <a:ext cx="110916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i="1" dirty="0">
                <a:solidFill>
                  <a:srgbClr val="9BA8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decisions are traceable, reviewable, and explainable.</a:t>
            </a:r>
            <a:endParaRPr lang="en-US" sz="1350" dirty="0"/>
          </a:p>
        </p:txBody>
      </p:sp>
      <p:sp>
        <p:nvSpPr>
          <p:cNvPr id="37" name="Text 35"/>
          <p:cNvSpPr txBox="1"/>
          <p:nvPr/>
        </p:nvSpPr>
        <p:spPr>
          <a:xfrm>
            <a:off x="457200" y="6528816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6B7A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RECOVERAI</a:t>
            </a:r>
            <a:endParaRPr lang="en-US" sz="900" dirty="0"/>
          </a:p>
        </p:txBody>
      </p:sp>
      <p:sp>
        <p:nvSpPr>
          <p:cNvPr id="38" name="Text 36"/>
          <p:cNvSpPr txBox="1"/>
          <p:nvPr/>
        </p:nvSpPr>
        <p:spPr>
          <a:xfrm>
            <a:off x="8074152" y="6528816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A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Razorpay AI Buildathon 2026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0F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 — OPERATIONS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From AI Decision Engine to Operations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874520"/>
            <a:ext cx="5417820" cy="2089404"/>
          </a:xfrm>
          <a:prstGeom prst="roundRect">
            <a:avLst>
              <a:gd name="adj" fmla="val 3939"/>
            </a:avLst>
          </a:prstGeom>
          <a:solidFill>
            <a:srgbClr val="182140"/>
          </a:solidFill>
          <a:ln w="9525">
            <a:solidFill>
              <a:srgbClr val="2A3555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804672" y="2039112"/>
            <a:ext cx="49057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20" kern="0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OVERVIEW</a:t>
            </a:r>
            <a:endParaRPr lang="en-US" sz="1150" dirty="0"/>
          </a:p>
        </p:txBody>
      </p:sp>
      <p:sp>
        <p:nvSpPr>
          <p:cNvPr id="6" name="Text 4"/>
          <p:cNvSpPr txBox="1"/>
          <p:nvPr/>
        </p:nvSpPr>
        <p:spPr>
          <a:xfrm>
            <a:off x="804672" y="2404872"/>
            <a:ext cx="231571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₹1.18Cr</a:t>
            </a:r>
            <a:endParaRPr lang="en-US" sz="1900" dirty="0"/>
          </a:p>
        </p:txBody>
      </p:sp>
      <p:sp>
        <p:nvSpPr>
          <p:cNvPr id="7" name="Text 5"/>
          <p:cNvSpPr txBox="1"/>
          <p:nvPr/>
        </p:nvSpPr>
        <p:spPr>
          <a:xfrm>
            <a:off x="804672" y="2752344"/>
            <a:ext cx="231571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50" kern="0" dirty="0">
                <a:solidFill>
                  <a:srgbClr val="9BA8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FAILED REVENUE</a:t>
            </a:r>
            <a:endParaRPr lang="en-US" sz="850" dirty="0"/>
          </a:p>
        </p:txBody>
      </p:sp>
      <p:sp>
        <p:nvSpPr>
          <p:cNvPr id="8" name="Text 6"/>
          <p:cNvSpPr txBox="1"/>
          <p:nvPr/>
        </p:nvSpPr>
        <p:spPr>
          <a:xfrm>
            <a:off x="3257550" y="2404872"/>
            <a:ext cx="231571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54.5%</a:t>
            </a:r>
            <a:endParaRPr lang="en-US" sz="1900" dirty="0"/>
          </a:p>
        </p:txBody>
      </p:sp>
      <p:sp>
        <p:nvSpPr>
          <p:cNvPr id="9" name="Text 7"/>
          <p:cNvSpPr txBox="1"/>
          <p:nvPr/>
        </p:nvSpPr>
        <p:spPr>
          <a:xfrm>
            <a:off x="3257550" y="2752344"/>
            <a:ext cx="231571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50" kern="0" dirty="0">
                <a:solidFill>
                  <a:srgbClr val="9BA8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RECOVERY RATE</a:t>
            </a:r>
            <a:endParaRPr lang="en-US" sz="850" dirty="0"/>
          </a:p>
        </p:txBody>
      </p:sp>
      <p:sp>
        <p:nvSpPr>
          <p:cNvPr id="10" name="Text 8"/>
          <p:cNvSpPr txBox="1"/>
          <p:nvPr/>
        </p:nvSpPr>
        <p:spPr>
          <a:xfrm>
            <a:off x="804672" y="3118104"/>
            <a:ext cx="231571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₹64.4L</a:t>
            </a:r>
            <a:endParaRPr lang="en-US" sz="1900" dirty="0"/>
          </a:p>
        </p:txBody>
      </p:sp>
      <p:sp>
        <p:nvSpPr>
          <p:cNvPr id="11" name="Text 9"/>
          <p:cNvSpPr txBox="1"/>
          <p:nvPr/>
        </p:nvSpPr>
        <p:spPr>
          <a:xfrm>
            <a:off x="804672" y="3465576"/>
            <a:ext cx="231571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50" kern="0" dirty="0">
                <a:solidFill>
                  <a:srgbClr val="9BA8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INCREMENTAL RECOVERY</a:t>
            </a:r>
            <a:endParaRPr lang="en-US" sz="850" dirty="0"/>
          </a:p>
        </p:txBody>
      </p:sp>
      <p:sp>
        <p:nvSpPr>
          <p:cNvPr id="12" name="Text 10"/>
          <p:cNvSpPr txBox="1"/>
          <p:nvPr/>
        </p:nvSpPr>
        <p:spPr>
          <a:xfrm>
            <a:off x="3257550" y="3118104"/>
            <a:ext cx="231571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47.2%</a:t>
            </a:r>
            <a:endParaRPr lang="en-US" sz="1900" dirty="0"/>
          </a:p>
        </p:txBody>
      </p:sp>
      <p:sp>
        <p:nvSpPr>
          <p:cNvPr id="13" name="Text 11"/>
          <p:cNvSpPr txBox="1"/>
          <p:nvPr/>
        </p:nvSpPr>
        <p:spPr>
          <a:xfrm>
            <a:off x="3257550" y="3465576"/>
            <a:ext cx="231571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50" kern="0" dirty="0">
                <a:solidFill>
                  <a:srgbClr val="9BA8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AUTOMATED ACTIONS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6222492" y="1874520"/>
            <a:ext cx="5417820" cy="2089404"/>
          </a:xfrm>
          <a:prstGeom prst="roundRect">
            <a:avLst>
              <a:gd name="adj" fmla="val 3939"/>
            </a:avLst>
          </a:prstGeom>
          <a:solidFill>
            <a:srgbClr val="182140"/>
          </a:solidFill>
          <a:ln w="9525">
            <a:solidFill>
              <a:srgbClr val="2A3555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15" name="Text 13"/>
          <p:cNvSpPr txBox="1"/>
          <p:nvPr/>
        </p:nvSpPr>
        <p:spPr>
          <a:xfrm>
            <a:off x="6478524" y="2039112"/>
            <a:ext cx="49057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20" kern="0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PAYMENTS</a:t>
            </a:r>
            <a:endParaRPr lang="en-US" sz="1150" dirty="0"/>
          </a:p>
        </p:txBody>
      </p:sp>
      <p:sp>
        <p:nvSpPr>
          <p:cNvPr id="16" name="Text 14"/>
          <p:cNvSpPr txBox="1"/>
          <p:nvPr/>
        </p:nvSpPr>
        <p:spPr>
          <a:xfrm>
            <a:off x="6478524" y="2377440"/>
            <a:ext cx="1417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9BA8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PAYMENT ID</a:t>
            </a:r>
            <a:endParaRPr lang="en-US" sz="800" dirty="0"/>
          </a:p>
        </p:txBody>
      </p:sp>
      <p:sp>
        <p:nvSpPr>
          <p:cNvPr id="17" name="Text 15"/>
          <p:cNvSpPr txBox="1"/>
          <p:nvPr/>
        </p:nvSpPr>
        <p:spPr>
          <a:xfrm>
            <a:off x="7895844" y="2377440"/>
            <a:ext cx="868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9BA8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AMOUNT</a:t>
            </a:r>
            <a:endParaRPr lang="en-US" sz="800" dirty="0"/>
          </a:p>
        </p:txBody>
      </p:sp>
      <p:sp>
        <p:nvSpPr>
          <p:cNvPr id="18" name="Text 16"/>
          <p:cNvSpPr txBox="1"/>
          <p:nvPr/>
        </p:nvSpPr>
        <p:spPr>
          <a:xfrm>
            <a:off x="8764524" y="2377440"/>
            <a:ext cx="1005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9BA8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</a:t>
            </a:r>
            <a:endParaRPr lang="en-US" sz="800" dirty="0"/>
          </a:p>
        </p:txBody>
      </p:sp>
      <p:sp>
        <p:nvSpPr>
          <p:cNvPr id="19" name="Text 17"/>
          <p:cNvSpPr txBox="1"/>
          <p:nvPr/>
        </p:nvSpPr>
        <p:spPr>
          <a:xfrm>
            <a:off x="9770364" y="2377440"/>
            <a:ext cx="1234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9BA8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FAILURE</a:t>
            </a:r>
            <a:endParaRPr lang="en-US" sz="800" dirty="0"/>
          </a:p>
        </p:txBody>
      </p:sp>
      <p:sp>
        <p:nvSpPr>
          <p:cNvPr id="20" name="Text 18"/>
          <p:cNvSpPr txBox="1"/>
          <p:nvPr/>
        </p:nvSpPr>
        <p:spPr>
          <a:xfrm>
            <a:off x="11004804" y="2377440"/>
            <a:ext cx="777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800" dirty="0"/>
          </a:p>
        </p:txBody>
      </p:sp>
      <p:sp>
        <p:nvSpPr>
          <p:cNvPr id="21" name="Text 19"/>
          <p:cNvSpPr txBox="1"/>
          <p:nvPr/>
        </p:nvSpPr>
        <p:spPr>
          <a:xfrm>
            <a:off x="6478524" y="2651760"/>
            <a:ext cx="1417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7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pay_00231</a:t>
            </a:r>
            <a:endParaRPr lang="en-US" sz="870" dirty="0"/>
          </a:p>
        </p:txBody>
      </p:sp>
      <p:sp>
        <p:nvSpPr>
          <p:cNvPr id="22" name="Text 20"/>
          <p:cNvSpPr txBox="1"/>
          <p:nvPr/>
        </p:nvSpPr>
        <p:spPr>
          <a:xfrm>
            <a:off x="7895844" y="2651760"/>
            <a:ext cx="868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7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₹3,400</a:t>
            </a:r>
            <a:endParaRPr lang="en-US" sz="870" dirty="0"/>
          </a:p>
        </p:txBody>
      </p:sp>
      <p:sp>
        <p:nvSpPr>
          <p:cNvPr id="23" name="Text 21"/>
          <p:cNvSpPr txBox="1"/>
          <p:nvPr/>
        </p:nvSpPr>
        <p:spPr>
          <a:xfrm>
            <a:off x="8764524" y="2651760"/>
            <a:ext cx="1005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7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UPI</a:t>
            </a:r>
            <a:endParaRPr lang="en-US" sz="870" dirty="0"/>
          </a:p>
        </p:txBody>
      </p:sp>
      <p:sp>
        <p:nvSpPr>
          <p:cNvPr id="24" name="Text 22"/>
          <p:cNvSpPr txBox="1"/>
          <p:nvPr/>
        </p:nvSpPr>
        <p:spPr>
          <a:xfrm>
            <a:off x="9770364" y="2651760"/>
            <a:ext cx="1234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7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insufficient_funds</a:t>
            </a:r>
            <a:endParaRPr lang="en-US" sz="870" dirty="0"/>
          </a:p>
        </p:txBody>
      </p:sp>
      <p:sp>
        <p:nvSpPr>
          <p:cNvPr id="25" name="Shape 23"/>
          <p:cNvSpPr/>
          <p:nvPr/>
        </p:nvSpPr>
        <p:spPr>
          <a:xfrm>
            <a:off x="11004804" y="2679192"/>
            <a:ext cx="713232" cy="256032"/>
          </a:xfrm>
          <a:prstGeom prst="roundRect">
            <a:avLst>
              <a:gd name="adj" fmla="val 50000"/>
            </a:avLst>
          </a:prstGeom>
          <a:solidFill>
            <a:srgbClr val="2DD4BF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11004804" y="2679192"/>
            <a:ext cx="7132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50" kern="0" dirty="0">
                <a:solidFill>
                  <a:srgbClr val="0A0F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ANALYZE</a:t>
            </a:r>
            <a:endParaRPr lang="en-US" sz="1100" dirty="0"/>
          </a:p>
        </p:txBody>
      </p:sp>
      <p:sp>
        <p:nvSpPr>
          <p:cNvPr id="27" name="Text 25"/>
          <p:cNvSpPr txBox="1"/>
          <p:nvPr/>
        </p:nvSpPr>
        <p:spPr>
          <a:xfrm>
            <a:off x="6478524" y="3035808"/>
            <a:ext cx="1417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7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pay_00198</a:t>
            </a:r>
            <a:endParaRPr lang="en-US" sz="870" dirty="0"/>
          </a:p>
        </p:txBody>
      </p:sp>
      <p:sp>
        <p:nvSpPr>
          <p:cNvPr id="28" name="Text 26"/>
          <p:cNvSpPr txBox="1"/>
          <p:nvPr/>
        </p:nvSpPr>
        <p:spPr>
          <a:xfrm>
            <a:off x="7895844" y="3035808"/>
            <a:ext cx="868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7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₹8,900</a:t>
            </a:r>
            <a:endParaRPr lang="en-US" sz="870" dirty="0"/>
          </a:p>
        </p:txBody>
      </p:sp>
      <p:sp>
        <p:nvSpPr>
          <p:cNvPr id="29" name="Text 27"/>
          <p:cNvSpPr txBox="1"/>
          <p:nvPr/>
        </p:nvSpPr>
        <p:spPr>
          <a:xfrm>
            <a:off x="8764524" y="3035808"/>
            <a:ext cx="1005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7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Card</a:t>
            </a:r>
            <a:endParaRPr lang="en-US" sz="870" dirty="0"/>
          </a:p>
        </p:txBody>
      </p:sp>
      <p:sp>
        <p:nvSpPr>
          <p:cNvPr id="30" name="Text 28"/>
          <p:cNvSpPr txBox="1"/>
          <p:nvPr/>
        </p:nvSpPr>
        <p:spPr>
          <a:xfrm>
            <a:off x="9770364" y="3035808"/>
            <a:ext cx="1234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7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bank_timeout</a:t>
            </a:r>
            <a:endParaRPr lang="en-US" sz="870" dirty="0"/>
          </a:p>
        </p:txBody>
      </p:sp>
      <p:sp>
        <p:nvSpPr>
          <p:cNvPr id="31" name="Shape 29"/>
          <p:cNvSpPr/>
          <p:nvPr/>
        </p:nvSpPr>
        <p:spPr>
          <a:xfrm>
            <a:off x="11004804" y="3063240"/>
            <a:ext cx="713232" cy="256032"/>
          </a:xfrm>
          <a:prstGeom prst="roundRect">
            <a:avLst>
              <a:gd name="adj" fmla="val 50000"/>
            </a:avLst>
          </a:prstGeom>
          <a:solidFill>
            <a:srgbClr val="2DD4BF"/>
          </a:solidFill>
          <a:ln/>
        </p:spPr>
      </p:sp>
      <p:sp>
        <p:nvSpPr>
          <p:cNvPr id="32" name="Text 30"/>
          <p:cNvSpPr txBox="1"/>
          <p:nvPr/>
        </p:nvSpPr>
        <p:spPr>
          <a:xfrm>
            <a:off x="11004804" y="3063240"/>
            <a:ext cx="7132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50" kern="0" dirty="0">
                <a:solidFill>
                  <a:srgbClr val="0A0F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ANALYZE</a:t>
            </a:r>
            <a:endParaRPr lang="en-US" sz="1100" dirty="0"/>
          </a:p>
        </p:txBody>
      </p:sp>
      <p:sp>
        <p:nvSpPr>
          <p:cNvPr id="33" name="Text 31"/>
          <p:cNvSpPr txBox="1"/>
          <p:nvPr/>
        </p:nvSpPr>
        <p:spPr>
          <a:xfrm>
            <a:off x="6478524" y="3419856"/>
            <a:ext cx="1417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7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pay_00177</a:t>
            </a:r>
            <a:endParaRPr lang="en-US" sz="870" dirty="0"/>
          </a:p>
        </p:txBody>
      </p:sp>
      <p:sp>
        <p:nvSpPr>
          <p:cNvPr id="34" name="Text 32"/>
          <p:cNvSpPr txBox="1"/>
          <p:nvPr/>
        </p:nvSpPr>
        <p:spPr>
          <a:xfrm>
            <a:off x="7895844" y="3419856"/>
            <a:ext cx="868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7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₹1,250</a:t>
            </a:r>
            <a:endParaRPr lang="en-US" sz="870" dirty="0"/>
          </a:p>
        </p:txBody>
      </p:sp>
      <p:sp>
        <p:nvSpPr>
          <p:cNvPr id="35" name="Text 33"/>
          <p:cNvSpPr txBox="1"/>
          <p:nvPr/>
        </p:nvSpPr>
        <p:spPr>
          <a:xfrm>
            <a:off x="8764524" y="3419856"/>
            <a:ext cx="1005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7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NetBanking</a:t>
            </a:r>
            <a:endParaRPr lang="en-US" sz="870" dirty="0"/>
          </a:p>
        </p:txBody>
      </p:sp>
      <p:sp>
        <p:nvSpPr>
          <p:cNvPr id="36" name="Text 34"/>
          <p:cNvSpPr txBox="1"/>
          <p:nvPr/>
        </p:nvSpPr>
        <p:spPr>
          <a:xfrm>
            <a:off x="9770364" y="3419856"/>
            <a:ext cx="1234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7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expired_otp</a:t>
            </a:r>
            <a:endParaRPr lang="en-US" sz="870" dirty="0"/>
          </a:p>
        </p:txBody>
      </p:sp>
      <p:sp>
        <p:nvSpPr>
          <p:cNvPr id="37" name="Shape 35"/>
          <p:cNvSpPr/>
          <p:nvPr/>
        </p:nvSpPr>
        <p:spPr>
          <a:xfrm>
            <a:off x="11004804" y="3447288"/>
            <a:ext cx="713232" cy="256032"/>
          </a:xfrm>
          <a:prstGeom prst="roundRect">
            <a:avLst>
              <a:gd name="adj" fmla="val 50000"/>
            </a:avLst>
          </a:prstGeom>
          <a:solidFill>
            <a:srgbClr val="2DD4BF"/>
          </a:solidFill>
          <a:ln/>
        </p:spPr>
      </p:sp>
      <p:sp>
        <p:nvSpPr>
          <p:cNvPr id="38" name="Text 36"/>
          <p:cNvSpPr txBox="1"/>
          <p:nvPr/>
        </p:nvSpPr>
        <p:spPr>
          <a:xfrm>
            <a:off x="11004804" y="3447288"/>
            <a:ext cx="7132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50" kern="0" dirty="0">
                <a:solidFill>
                  <a:srgbClr val="0A0F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ANALYZE</a:t>
            </a:r>
            <a:endParaRPr lang="en-US" sz="1100" dirty="0"/>
          </a:p>
        </p:txBody>
      </p:sp>
      <p:sp>
        <p:nvSpPr>
          <p:cNvPr id="39" name="Shape 37"/>
          <p:cNvSpPr/>
          <p:nvPr/>
        </p:nvSpPr>
        <p:spPr>
          <a:xfrm>
            <a:off x="548640" y="4219956"/>
            <a:ext cx="5417820" cy="2089404"/>
          </a:xfrm>
          <a:prstGeom prst="roundRect">
            <a:avLst>
              <a:gd name="adj" fmla="val 3939"/>
            </a:avLst>
          </a:prstGeom>
          <a:solidFill>
            <a:srgbClr val="182140"/>
          </a:solidFill>
          <a:ln w="9525">
            <a:solidFill>
              <a:srgbClr val="2A3555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40" name="Text 38"/>
          <p:cNvSpPr txBox="1"/>
          <p:nvPr/>
        </p:nvSpPr>
        <p:spPr>
          <a:xfrm>
            <a:off x="804672" y="4384548"/>
            <a:ext cx="49057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20" kern="0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DECISIONS</a:t>
            </a:r>
            <a:endParaRPr lang="en-US" sz="1150" dirty="0"/>
          </a:p>
        </p:txBody>
      </p:sp>
      <p:sp>
        <p:nvSpPr>
          <p:cNvPr id="41" name="Text 39"/>
          <p:cNvSpPr txBox="1"/>
          <p:nvPr/>
        </p:nvSpPr>
        <p:spPr>
          <a:xfrm>
            <a:off x="804672" y="4750308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pay_00231</a:t>
            </a:r>
            <a:endParaRPr lang="en-US" sz="950" dirty="0"/>
          </a:p>
        </p:txBody>
      </p:sp>
      <p:sp>
        <p:nvSpPr>
          <p:cNvPr id="42" name="Text 40"/>
          <p:cNvSpPr txBox="1"/>
          <p:nvPr/>
        </p:nvSpPr>
        <p:spPr>
          <a:xfrm>
            <a:off x="2331720" y="4750308"/>
            <a:ext cx="822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BA8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87.2%</a:t>
            </a:r>
            <a:endParaRPr lang="en-US" sz="950" dirty="0"/>
          </a:p>
        </p:txBody>
      </p:sp>
      <p:sp>
        <p:nvSpPr>
          <p:cNvPr id="43" name="Text 41"/>
          <p:cNvSpPr txBox="1"/>
          <p:nvPr/>
        </p:nvSpPr>
        <p:spPr>
          <a:xfrm>
            <a:off x="3200400" y="4750308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RETRY</a:t>
            </a:r>
            <a:endParaRPr lang="en-US" sz="950" dirty="0"/>
          </a:p>
        </p:txBody>
      </p:sp>
      <p:sp>
        <p:nvSpPr>
          <p:cNvPr id="44" name="Shape 42"/>
          <p:cNvSpPr/>
          <p:nvPr/>
        </p:nvSpPr>
        <p:spPr>
          <a:xfrm>
            <a:off x="4366260" y="4777740"/>
            <a:ext cx="1371600" cy="292608"/>
          </a:xfrm>
          <a:prstGeom prst="roundRect">
            <a:avLst>
              <a:gd name="adj" fmla="val 50000"/>
            </a:avLst>
          </a:prstGeom>
          <a:solidFill>
            <a:srgbClr val="34D399"/>
          </a:solidFill>
          <a:ln/>
        </p:spPr>
      </p:sp>
      <p:sp>
        <p:nvSpPr>
          <p:cNvPr id="45" name="Text 43"/>
          <p:cNvSpPr txBox="1"/>
          <p:nvPr/>
        </p:nvSpPr>
        <p:spPr>
          <a:xfrm>
            <a:off x="4366260" y="4777740"/>
            <a:ext cx="1371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50" kern="0" dirty="0">
                <a:solidFill>
                  <a:srgbClr val="0A0F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APPROVED</a:t>
            </a:r>
            <a:endParaRPr lang="en-US" sz="1100" dirty="0"/>
          </a:p>
        </p:txBody>
      </p:sp>
      <p:sp>
        <p:nvSpPr>
          <p:cNvPr id="46" name="Text 44"/>
          <p:cNvSpPr txBox="1"/>
          <p:nvPr/>
        </p:nvSpPr>
        <p:spPr>
          <a:xfrm>
            <a:off x="804672" y="5253228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pay_00198</a:t>
            </a:r>
            <a:endParaRPr lang="en-US" sz="950" dirty="0"/>
          </a:p>
        </p:txBody>
      </p:sp>
      <p:sp>
        <p:nvSpPr>
          <p:cNvPr id="47" name="Text 45"/>
          <p:cNvSpPr txBox="1"/>
          <p:nvPr/>
        </p:nvSpPr>
        <p:spPr>
          <a:xfrm>
            <a:off x="2331720" y="5253228"/>
            <a:ext cx="822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BA8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41.6%</a:t>
            </a:r>
            <a:endParaRPr lang="en-US" sz="950" dirty="0"/>
          </a:p>
        </p:txBody>
      </p:sp>
      <p:sp>
        <p:nvSpPr>
          <p:cNvPr id="48" name="Text 46"/>
          <p:cNvSpPr txBox="1"/>
          <p:nvPr/>
        </p:nvSpPr>
        <p:spPr>
          <a:xfrm>
            <a:off x="3200400" y="5253228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ESCALATE</a:t>
            </a:r>
            <a:endParaRPr lang="en-US" sz="950" dirty="0"/>
          </a:p>
        </p:txBody>
      </p:sp>
      <p:sp>
        <p:nvSpPr>
          <p:cNvPr id="49" name="Shape 47"/>
          <p:cNvSpPr/>
          <p:nvPr/>
        </p:nvSpPr>
        <p:spPr>
          <a:xfrm>
            <a:off x="4366260" y="5280660"/>
            <a:ext cx="1371600" cy="292608"/>
          </a:xfrm>
          <a:prstGeom prst="roundRect">
            <a:avLst>
              <a:gd name="adj" fmla="val 50000"/>
            </a:avLst>
          </a:prstGeom>
          <a:solidFill>
            <a:srgbClr val="F5A623"/>
          </a:solidFill>
          <a:ln/>
        </p:spPr>
      </p:sp>
      <p:sp>
        <p:nvSpPr>
          <p:cNvPr id="50" name="Text 48"/>
          <p:cNvSpPr txBox="1"/>
          <p:nvPr/>
        </p:nvSpPr>
        <p:spPr>
          <a:xfrm>
            <a:off x="4366260" y="5280660"/>
            <a:ext cx="1371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50" kern="0" dirty="0">
                <a:solidFill>
                  <a:srgbClr val="0A0F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 REVIEW</a:t>
            </a:r>
            <a:endParaRPr lang="en-US" sz="1100" dirty="0"/>
          </a:p>
        </p:txBody>
      </p:sp>
      <p:sp>
        <p:nvSpPr>
          <p:cNvPr id="51" name="Text 49"/>
          <p:cNvSpPr txBox="1"/>
          <p:nvPr/>
        </p:nvSpPr>
        <p:spPr>
          <a:xfrm>
            <a:off x="804672" y="5756148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pay_00177</a:t>
            </a:r>
            <a:endParaRPr lang="en-US" sz="950" dirty="0"/>
          </a:p>
        </p:txBody>
      </p:sp>
      <p:sp>
        <p:nvSpPr>
          <p:cNvPr id="52" name="Text 50"/>
          <p:cNvSpPr txBox="1"/>
          <p:nvPr/>
        </p:nvSpPr>
        <p:spPr>
          <a:xfrm>
            <a:off x="2331720" y="5756148"/>
            <a:ext cx="822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BA8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69.0%</a:t>
            </a:r>
            <a:endParaRPr lang="en-US" sz="950" dirty="0"/>
          </a:p>
        </p:txBody>
      </p:sp>
      <p:sp>
        <p:nvSpPr>
          <p:cNvPr id="53" name="Text 51"/>
          <p:cNvSpPr txBox="1"/>
          <p:nvPr/>
        </p:nvSpPr>
        <p:spPr>
          <a:xfrm>
            <a:off x="3200400" y="5756148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REMINDER</a:t>
            </a:r>
            <a:endParaRPr lang="en-US" sz="950" dirty="0"/>
          </a:p>
        </p:txBody>
      </p:sp>
      <p:sp>
        <p:nvSpPr>
          <p:cNvPr id="54" name="Shape 52"/>
          <p:cNvSpPr/>
          <p:nvPr/>
        </p:nvSpPr>
        <p:spPr>
          <a:xfrm>
            <a:off x="4366260" y="5783580"/>
            <a:ext cx="1371600" cy="292608"/>
          </a:xfrm>
          <a:prstGeom prst="roundRect">
            <a:avLst>
              <a:gd name="adj" fmla="val 50000"/>
            </a:avLst>
          </a:prstGeom>
          <a:solidFill>
            <a:srgbClr val="34D399"/>
          </a:solidFill>
          <a:ln/>
        </p:spPr>
      </p:sp>
      <p:sp>
        <p:nvSpPr>
          <p:cNvPr id="55" name="Text 53"/>
          <p:cNvSpPr txBox="1"/>
          <p:nvPr/>
        </p:nvSpPr>
        <p:spPr>
          <a:xfrm>
            <a:off x="4366260" y="5783580"/>
            <a:ext cx="1371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50" kern="0" dirty="0">
                <a:solidFill>
                  <a:srgbClr val="0A0F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APPROVED</a:t>
            </a:r>
            <a:endParaRPr lang="en-US" sz="1100" dirty="0"/>
          </a:p>
        </p:txBody>
      </p:sp>
      <p:sp>
        <p:nvSpPr>
          <p:cNvPr id="56" name="Shape 54"/>
          <p:cNvSpPr/>
          <p:nvPr/>
        </p:nvSpPr>
        <p:spPr>
          <a:xfrm>
            <a:off x="6222492" y="4219956"/>
            <a:ext cx="5417820" cy="2089404"/>
          </a:xfrm>
          <a:prstGeom prst="roundRect">
            <a:avLst>
              <a:gd name="adj" fmla="val 3939"/>
            </a:avLst>
          </a:prstGeom>
          <a:solidFill>
            <a:srgbClr val="182140"/>
          </a:solidFill>
          <a:ln w="9525">
            <a:solidFill>
              <a:srgbClr val="2A3555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57" name="Text 55"/>
          <p:cNvSpPr txBox="1"/>
          <p:nvPr/>
        </p:nvSpPr>
        <p:spPr>
          <a:xfrm>
            <a:off x="6478524" y="4384548"/>
            <a:ext cx="49057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20" kern="0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 TRAIL</a:t>
            </a:r>
            <a:endParaRPr lang="en-US" sz="1150" dirty="0"/>
          </a:p>
        </p:txBody>
      </p:sp>
      <p:sp>
        <p:nvSpPr>
          <p:cNvPr id="58" name="Shape 56"/>
          <p:cNvSpPr/>
          <p:nvPr/>
        </p:nvSpPr>
        <p:spPr>
          <a:xfrm>
            <a:off x="6533388" y="4750308"/>
            <a:ext cx="146304" cy="146304"/>
          </a:xfrm>
          <a:prstGeom prst="ellipse">
            <a:avLst/>
          </a:prstGeom>
          <a:solidFill>
            <a:srgbClr val="2DD4BF"/>
          </a:solidFill>
          <a:ln/>
        </p:spPr>
      </p:sp>
      <p:sp>
        <p:nvSpPr>
          <p:cNvPr id="59" name="Text 57"/>
          <p:cNvSpPr txBox="1"/>
          <p:nvPr/>
        </p:nvSpPr>
        <p:spPr>
          <a:xfrm>
            <a:off x="6789420" y="4695444"/>
            <a:ext cx="40462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7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REMINDER → APPROVED</a:t>
            </a:r>
            <a:endParaRPr lang="en-US" sz="970" dirty="0"/>
          </a:p>
        </p:txBody>
      </p:sp>
      <p:sp>
        <p:nvSpPr>
          <p:cNvPr id="60" name="Text 58"/>
          <p:cNvSpPr txBox="1"/>
          <p:nvPr/>
        </p:nvSpPr>
        <p:spPr>
          <a:xfrm>
            <a:off x="6789420" y="4924044"/>
            <a:ext cx="45034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30" dirty="0">
                <a:solidFill>
                  <a:srgbClr val="9BA8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Policy conditions satisfied   ·   09:14:02</a:t>
            </a:r>
            <a:endParaRPr lang="en-US" sz="830" dirty="0"/>
          </a:p>
        </p:txBody>
      </p:sp>
      <p:sp>
        <p:nvSpPr>
          <p:cNvPr id="61" name="Shape 59"/>
          <p:cNvSpPr/>
          <p:nvPr/>
        </p:nvSpPr>
        <p:spPr>
          <a:xfrm>
            <a:off x="6533388" y="5244084"/>
            <a:ext cx="146304" cy="146304"/>
          </a:xfrm>
          <a:prstGeom prst="ellipse">
            <a:avLst/>
          </a:prstGeom>
          <a:solidFill>
            <a:srgbClr val="2DD4BF"/>
          </a:solidFill>
          <a:ln/>
        </p:spPr>
      </p:sp>
      <p:sp>
        <p:nvSpPr>
          <p:cNvPr id="62" name="Text 60"/>
          <p:cNvSpPr txBox="1"/>
          <p:nvPr/>
        </p:nvSpPr>
        <p:spPr>
          <a:xfrm>
            <a:off x="6789420" y="5189220"/>
            <a:ext cx="40462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7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ESCALATE → HUMAN REVIEW</a:t>
            </a:r>
            <a:endParaRPr lang="en-US" sz="970" dirty="0"/>
          </a:p>
        </p:txBody>
      </p:sp>
      <p:sp>
        <p:nvSpPr>
          <p:cNvPr id="63" name="Text 61"/>
          <p:cNvSpPr txBox="1"/>
          <p:nvPr/>
        </p:nvSpPr>
        <p:spPr>
          <a:xfrm>
            <a:off x="6789420" y="5417820"/>
            <a:ext cx="45034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30" dirty="0">
                <a:solidFill>
                  <a:srgbClr val="9BA8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confidence too low   ·   09:12:47</a:t>
            </a:r>
            <a:endParaRPr lang="en-US" sz="830" dirty="0"/>
          </a:p>
        </p:txBody>
      </p:sp>
      <p:sp>
        <p:nvSpPr>
          <p:cNvPr id="64" name="Shape 62"/>
          <p:cNvSpPr/>
          <p:nvPr/>
        </p:nvSpPr>
        <p:spPr>
          <a:xfrm>
            <a:off x="6533388" y="5737860"/>
            <a:ext cx="146304" cy="146304"/>
          </a:xfrm>
          <a:prstGeom prst="ellipse">
            <a:avLst/>
          </a:prstGeom>
          <a:solidFill>
            <a:srgbClr val="2DD4BF"/>
          </a:solidFill>
          <a:ln/>
        </p:spPr>
      </p:sp>
      <p:sp>
        <p:nvSpPr>
          <p:cNvPr id="65" name="Text 63"/>
          <p:cNvSpPr txBox="1"/>
          <p:nvPr/>
        </p:nvSpPr>
        <p:spPr>
          <a:xfrm>
            <a:off x="6789420" y="5682996"/>
            <a:ext cx="40462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7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RETRY → APPROVED</a:t>
            </a:r>
            <a:endParaRPr lang="en-US" sz="970" dirty="0"/>
          </a:p>
        </p:txBody>
      </p:sp>
      <p:sp>
        <p:nvSpPr>
          <p:cNvPr id="66" name="Text 64"/>
          <p:cNvSpPr txBox="1"/>
          <p:nvPr/>
        </p:nvSpPr>
        <p:spPr>
          <a:xfrm>
            <a:off x="6789420" y="5911596"/>
            <a:ext cx="45034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30" dirty="0">
                <a:solidFill>
                  <a:srgbClr val="9BA8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Policy conditions satisfied   ·   09:10:19</a:t>
            </a:r>
            <a:endParaRPr lang="en-US" sz="830" dirty="0"/>
          </a:p>
        </p:txBody>
      </p:sp>
      <p:sp>
        <p:nvSpPr>
          <p:cNvPr id="67" name="Text 65"/>
          <p:cNvSpPr txBox="1"/>
          <p:nvPr/>
        </p:nvSpPr>
        <p:spPr>
          <a:xfrm>
            <a:off x="457200" y="6528816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6B7A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RECOVERAI</a:t>
            </a:r>
            <a:endParaRPr lang="en-US" sz="900" dirty="0"/>
          </a:p>
        </p:txBody>
      </p:sp>
      <p:sp>
        <p:nvSpPr>
          <p:cNvPr id="68" name="Text 66"/>
          <p:cNvSpPr txBox="1"/>
          <p:nvPr/>
        </p:nvSpPr>
        <p:spPr>
          <a:xfrm>
            <a:off x="8074152" y="6528816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A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Razorpay AI Buildathon 2026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A0F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— JOURNEY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One Payment. One Controlled Decision.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2148840"/>
            <a:ext cx="2057400" cy="1417320"/>
          </a:xfrm>
          <a:prstGeom prst="roundRect">
            <a:avLst>
              <a:gd name="adj" fmla="val 5806"/>
            </a:avLst>
          </a:prstGeom>
          <a:solidFill>
            <a:srgbClr val="121A2E"/>
          </a:solidFill>
          <a:ln w="9525">
            <a:solidFill>
              <a:srgbClr val="2A3555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348740" y="2304288"/>
            <a:ext cx="457200" cy="457200"/>
          </a:xfrm>
          <a:prstGeom prst="ellipse">
            <a:avLst/>
          </a:prstGeom>
          <a:solidFill>
            <a:srgbClr val="F0554B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603504" y="2862072"/>
            <a:ext cx="19476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FAILED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PAYMENT</a:t>
            </a:r>
            <a:endParaRPr lang="en-US" sz="1150" dirty="0"/>
          </a:p>
        </p:txBody>
      </p:sp>
      <p:sp>
        <p:nvSpPr>
          <p:cNvPr id="7" name="Text 5"/>
          <p:cNvSpPr txBox="1"/>
          <p:nvPr/>
        </p:nvSpPr>
        <p:spPr>
          <a:xfrm>
            <a:off x="603504" y="3246120"/>
            <a:ext cx="1947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30" dirty="0">
                <a:solidFill>
                  <a:srgbClr val="9BA8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Transaction fails</a:t>
            </a:r>
            <a:endParaRPr lang="en-US" sz="830" dirty="0"/>
          </a:p>
        </p:txBody>
      </p:sp>
      <p:sp>
        <p:nvSpPr>
          <p:cNvPr id="8" name="Shape 6"/>
          <p:cNvSpPr/>
          <p:nvPr/>
        </p:nvSpPr>
        <p:spPr>
          <a:xfrm>
            <a:off x="2807208" y="2148840"/>
            <a:ext cx="2057400" cy="1417320"/>
          </a:xfrm>
          <a:prstGeom prst="roundRect">
            <a:avLst>
              <a:gd name="adj" fmla="val 5806"/>
            </a:avLst>
          </a:prstGeom>
          <a:solidFill>
            <a:srgbClr val="121A2E"/>
          </a:solidFill>
          <a:ln w="9525">
            <a:solidFill>
              <a:srgbClr val="2A3555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3607308" y="2304288"/>
            <a:ext cx="457200" cy="457200"/>
          </a:xfrm>
          <a:prstGeom prst="ellipse">
            <a:avLst/>
          </a:prstGeom>
          <a:solidFill>
            <a:srgbClr val="9BA8C4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2862072" y="2862072"/>
            <a:ext cx="19476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₹2,000</a:t>
            </a:r>
            <a:endParaRPr lang="en-US" sz="1150" dirty="0"/>
          </a:p>
        </p:txBody>
      </p:sp>
      <p:sp>
        <p:nvSpPr>
          <p:cNvPr id="11" name="Text 9"/>
          <p:cNvSpPr txBox="1"/>
          <p:nvPr/>
        </p:nvSpPr>
        <p:spPr>
          <a:xfrm>
            <a:off x="2862072" y="3246120"/>
            <a:ext cx="1947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30" dirty="0">
                <a:solidFill>
                  <a:srgbClr val="9BA8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Payment amount</a:t>
            </a:r>
            <a:endParaRPr lang="en-US" sz="830" dirty="0"/>
          </a:p>
        </p:txBody>
      </p:sp>
      <p:sp>
        <p:nvSpPr>
          <p:cNvPr id="12" name="Shape 10"/>
          <p:cNvSpPr/>
          <p:nvPr/>
        </p:nvSpPr>
        <p:spPr>
          <a:xfrm>
            <a:off x="5065776" y="2148840"/>
            <a:ext cx="2057400" cy="1417320"/>
          </a:xfrm>
          <a:prstGeom prst="roundRect">
            <a:avLst>
              <a:gd name="adj" fmla="val 5806"/>
            </a:avLst>
          </a:prstGeom>
          <a:solidFill>
            <a:srgbClr val="121A2E"/>
          </a:solidFill>
          <a:ln w="9525">
            <a:solidFill>
              <a:srgbClr val="2A3555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5865876" y="2304288"/>
            <a:ext cx="457200" cy="457200"/>
          </a:xfrm>
          <a:prstGeom prst="ellipse">
            <a:avLst/>
          </a:prstGeom>
          <a:solidFill>
            <a:srgbClr val="2DD4BF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5120640" y="2862072"/>
            <a:ext cx="19476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XGBoost</a:t>
            </a:r>
            <a:endParaRPr lang="en-US" sz="1150" dirty="0"/>
          </a:p>
        </p:txBody>
      </p:sp>
      <p:sp>
        <p:nvSpPr>
          <p:cNvPr id="15" name="Text 13"/>
          <p:cNvSpPr txBox="1"/>
          <p:nvPr/>
        </p:nvSpPr>
        <p:spPr>
          <a:xfrm>
            <a:off x="5120640" y="3246120"/>
            <a:ext cx="1947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30" dirty="0">
                <a:solidFill>
                  <a:srgbClr val="9BA8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scores it</a:t>
            </a:r>
            <a:endParaRPr lang="en-US" sz="830" dirty="0"/>
          </a:p>
        </p:txBody>
      </p:sp>
      <p:sp>
        <p:nvSpPr>
          <p:cNvPr id="16" name="Shape 14"/>
          <p:cNvSpPr/>
          <p:nvPr/>
        </p:nvSpPr>
        <p:spPr>
          <a:xfrm>
            <a:off x="7324344" y="2148840"/>
            <a:ext cx="2057400" cy="1417320"/>
          </a:xfrm>
          <a:prstGeom prst="roundRect">
            <a:avLst>
              <a:gd name="adj" fmla="val 5806"/>
            </a:avLst>
          </a:prstGeom>
          <a:solidFill>
            <a:srgbClr val="121A2E"/>
          </a:solidFill>
          <a:ln w="9525">
            <a:solidFill>
              <a:srgbClr val="2A3555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8124444" y="2304288"/>
            <a:ext cx="457200" cy="457200"/>
          </a:xfrm>
          <a:prstGeom prst="ellipse">
            <a:avLst/>
          </a:prstGeom>
          <a:solidFill>
            <a:srgbClr val="2DD4BF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7379208" y="2862072"/>
            <a:ext cx="19476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87.4%</a:t>
            </a:r>
            <a:endParaRPr lang="en-US" sz="1150" dirty="0"/>
          </a:p>
        </p:txBody>
      </p:sp>
      <p:sp>
        <p:nvSpPr>
          <p:cNvPr id="19" name="Text 17"/>
          <p:cNvSpPr txBox="1"/>
          <p:nvPr/>
        </p:nvSpPr>
        <p:spPr>
          <a:xfrm>
            <a:off x="7379208" y="3246120"/>
            <a:ext cx="1947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30" dirty="0">
                <a:solidFill>
                  <a:srgbClr val="9BA8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Recovery probability</a:t>
            </a:r>
            <a:endParaRPr lang="en-US" sz="830" dirty="0"/>
          </a:p>
        </p:txBody>
      </p:sp>
      <p:sp>
        <p:nvSpPr>
          <p:cNvPr id="20" name="Shape 18"/>
          <p:cNvSpPr/>
          <p:nvPr/>
        </p:nvSpPr>
        <p:spPr>
          <a:xfrm>
            <a:off x="9582912" y="2148840"/>
            <a:ext cx="2057400" cy="1417320"/>
          </a:xfrm>
          <a:prstGeom prst="roundRect">
            <a:avLst>
              <a:gd name="adj" fmla="val 5806"/>
            </a:avLst>
          </a:prstGeom>
          <a:solidFill>
            <a:srgbClr val="121A2E"/>
          </a:solidFill>
          <a:ln w="9525">
            <a:solidFill>
              <a:srgbClr val="2A3555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10383012" y="2304288"/>
            <a:ext cx="457200" cy="457200"/>
          </a:xfrm>
          <a:prstGeom prst="ellipse">
            <a:avLst/>
          </a:prstGeom>
          <a:solidFill>
            <a:srgbClr val="2DD4BF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9637776" y="2862072"/>
            <a:ext cx="19476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OPTIMIZE</a:t>
            </a:r>
            <a:endParaRPr lang="en-US" sz="1150" dirty="0"/>
          </a:p>
        </p:txBody>
      </p:sp>
      <p:sp>
        <p:nvSpPr>
          <p:cNvPr id="23" name="Text 21"/>
          <p:cNvSpPr txBox="1"/>
          <p:nvPr/>
        </p:nvSpPr>
        <p:spPr>
          <a:xfrm>
            <a:off x="9637776" y="3246120"/>
            <a:ext cx="1947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30" dirty="0">
                <a:solidFill>
                  <a:srgbClr val="9BA8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intervention</a:t>
            </a:r>
            <a:endParaRPr lang="en-US" sz="830" dirty="0"/>
          </a:p>
        </p:txBody>
      </p:sp>
      <p:sp>
        <p:nvSpPr>
          <p:cNvPr id="24" name="Shape 22"/>
          <p:cNvSpPr/>
          <p:nvPr/>
        </p:nvSpPr>
        <p:spPr>
          <a:xfrm>
            <a:off x="9582912" y="4343400"/>
            <a:ext cx="2057400" cy="1417320"/>
          </a:xfrm>
          <a:prstGeom prst="roundRect">
            <a:avLst>
              <a:gd name="adj" fmla="val 5806"/>
            </a:avLst>
          </a:prstGeom>
          <a:solidFill>
            <a:srgbClr val="121A2E"/>
          </a:solidFill>
          <a:ln w="9525">
            <a:solidFill>
              <a:srgbClr val="2A3555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10383012" y="4498848"/>
            <a:ext cx="457200" cy="457200"/>
          </a:xfrm>
          <a:prstGeom prst="ellipse">
            <a:avLst/>
          </a:prstGeom>
          <a:solidFill>
            <a:srgbClr val="2DD4BF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9637776" y="5056632"/>
            <a:ext cx="19476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RETRY</a:t>
            </a:r>
            <a:endParaRPr lang="en-US" sz="1150" dirty="0"/>
          </a:p>
        </p:txBody>
      </p:sp>
      <p:sp>
        <p:nvSpPr>
          <p:cNvPr id="27" name="Text 25"/>
          <p:cNvSpPr txBox="1"/>
          <p:nvPr/>
        </p:nvSpPr>
        <p:spPr>
          <a:xfrm>
            <a:off x="9637776" y="5440680"/>
            <a:ext cx="1947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30" dirty="0">
                <a:solidFill>
                  <a:srgbClr val="9BA8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Chosen action</a:t>
            </a:r>
            <a:endParaRPr lang="en-US" sz="830" dirty="0"/>
          </a:p>
        </p:txBody>
      </p:sp>
      <p:sp>
        <p:nvSpPr>
          <p:cNvPr id="28" name="Shape 26"/>
          <p:cNvSpPr/>
          <p:nvPr/>
        </p:nvSpPr>
        <p:spPr>
          <a:xfrm>
            <a:off x="7324344" y="4343400"/>
            <a:ext cx="2057400" cy="1417320"/>
          </a:xfrm>
          <a:prstGeom prst="roundRect">
            <a:avLst>
              <a:gd name="adj" fmla="val 5806"/>
            </a:avLst>
          </a:prstGeom>
          <a:solidFill>
            <a:srgbClr val="121A2E"/>
          </a:solidFill>
          <a:ln w="9525">
            <a:solidFill>
              <a:srgbClr val="2A3555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8124444" y="4498848"/>
            <a:ext cx="457200" cy="457200"/>
          </a:xfrm>
          <a:prstGeom prst="ellipse">
            <a:avLst/>
          </a:prstGeom>
          <a:solidFill>
            <a:srgbClr val="F5A623"/>
          </a:solidFill>
          <a:ln/>
        </p:spPr>
      </p:sp>
      <p:sp>
        <p:nvSpPr>
          <p:cNvPr id="30" name="Text 28"/>
          <p:cNvSpPr txBox="1"/>
          <p:nvPr/>
        </p:nvSpPr>
        <p:spPr>
          <a:xfrm>
            <a:off x="7379208" y="5056632"/>
            <a:ext cx="19476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POLICY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</a:t>
            </a:r>
            <a:endParaRPr lang="en-US" sz="1150" dirty="0"/>
          </a:p>
        </p:txBody>
      </p:sp>
      <p:sp>
        <p:nvSpPr>
          <p:cNvPr id="31" name="Text 29"/>
          <p:cNvSpPr txBox="1"/>
          <p:nvPr/>
        </p:nvSpPr>
        <p:spPr>
          <a:xfrm>
            <a:off x="7379208" y="5440680"/>
            <a:ext cx="1947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30" dirty="0">
                <a:solidFill>
                  <a:srgbClr val="9BA8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Safety checks</a:t>
            </a:r>
            <a:endParaRPr lang="en-US" sz="830" dirty="0"/>
          </a:p>
        </p:txBody>
      </p:sp>
      <p:sp>
        <p:nvSpPr>
          <p:cNvPr id="32" name="Shape 30"/>
          <p:cNvSpPr/>
          <p:nvPr/>
        </p:nvSpPr>
        <p:spPr>
          <a:xfrm>
            <a:off x="5065776" y="4343400"/>
            <a:ext cx="2057400" cy="1417320"/>
          </a:xfrm>
          <a:prstGeom prst="roundRect">
            <a:avLst>
              <a:gd name="adj" fmla="val 5806"/>
            </a:avLst>
          </a:prstGeom>
          <a:solidFill>
            <a:srgbClr val="121A2E"/>
          </a:solidFill>
          <a:ln w="9525">
            <a:solidFill>
              <a:srgbClr val="2A3555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5865876" y="4498848"/>
            <a:ext cx="457200" cy="457200"/>
          </a:xfrm>
          <a:prstGeom prst="ellipse">
            <a:avLst/>
          </a:prstGeom>
          <a:solidFill>
            <a:srgbClr val="34D399"/>
          </a:solidFill>
          <a:ln/>
        </p:spPr>
      </p:sp>
      <p:sp>
        <p:nvSpPr>
          <p:cNvPr id="34" name="Text 32"/>
          <p:cNvSpPr txBox="1"/>
          <p:nvPr/>
        </p:nvSpPr>
        <p:spPr>
          <a:xfrm>
            <a:off x="5120640" y="5056632"/>
            <a:ext cx="19476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APPROVED</a:t>
            </a:r>
            <a:endParaRPr lang="en-US" sz="1150" dirty="0"/>
          </a:p>
        </p:txBody>
      </p:sp>
      <p:sp>
        <p:nvSpPr>
          <p:cNvPr id="35" name="Text 33"/>
          <p:cNvSpPr txBox="1"/>
          <p:nvPr/>
        </p:nvSpPr>
        <p:spPr>
          <a:xfrm>
            <a:off x="5120640" y="5440680"/>
            <a:ext cx="1947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30" dirty="0">
                <a:solidFill>
                  <a:srgbClr val="9BA8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Policy decision</a:t>
            </a:r>
            <a:endParaRPr lang="en-US" sz="830" dirty="0"/>
          </a:p>
        </p:txBody>
      </p:sp>
      <p:sp>
        <p:nvSpPr>
          <p:cNvPr id="36" name="Shape 34"/>
          <p:cNvSpPr/>
          <p:nvPr/>
        </p:nvSpPr>
        <p:spPr>
          <a:xfrm>
            <a:off x="2807208" y="4343400"/>
            <a:ext cx="2057400" cy="1417320"/>
          </a:xfrm>
          <a:prstGeom prst="roundRect">
            <a:avLst>
              <a:gd name="adj" fmla="val 5806"/>
            </a:avLst>
          </a:prstGeom>
          <a:solidFill>
            <a:srgbClr val="121A2E"/>
          </a:solidFill>
          <a:ln w="9525">
            <a:solidFill>
              <a:srgbClr val="2A3555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37" name="Shape 35"/>
          <p:cNvSpPr/>
          <p:nvPr/>
        </p:nvSpPr>
        <p:spPr>
          <a:xfrm>
            <a:off x="3607308" y="4498848"/>
            <a:ext cx="457200" cy="457200"/>
          </a:xfrm>
          <a:prstGeom prst="ellipse">
            <a:avLst/>
          </a:prstGeom>
          <a:solidFill>
            <a:srgbClr val="9BA8C4"/>
          </a:solidFill>
          <a:ln/>
        </p:spPr>
      </p:sp>
      <p:sp>
        <p:nvSpPr>
          <p:cNvPr id="38" name="Text 36"/>
          <p:cNvSpPr txBox="1"/>
          <p:nvPr/>
        </p:nvSpPr>
        <p:spPr>
          <a:xfrm>
            <a:off x="2862072" y="5056632"/>
            <a:ext cx="19476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</a:t>
            </a:r>
            <a:endParaRPr lang="en-US" sz="1150" dirty="0"/>
          </a:p>
        </p:txBody>
      </p:sp>
      <p:sp>
        <p:nvSpPr>
          <p:cNvPr id="39" name="Text 37"/>
          <p:cNvSpPr txBox="1"/>
          <p:nvPr/>
        </p:nvSpPr>
        <p:spPr>
          <a:xfrm>
            <a:off x="2862072" y="5440680"/>
            <a:ext cx="1947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30" dirty="0">
                <a:solidFill>
                  <a:srgbClr val="9BA8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Fully logged</a:t>
            </a:r>
            <a:endParaRPr lang="en-US" sz="830" dirty="0"/>
          </a:p>
        </p:txBody>
      </p:sp>
      <p:sp>
        <p:nvSpPr>
          <p:cNvPr id="40" name="Shape 38"/>
          <p:cNvSpPr/>
          <p:nvPr/>
        </p:nvSpPr>
        <p:spPr>
          <a:xfrm>
            <a:off x="548640" y="4343400"/>
            <a:ext cx="2057400" cy="1417320"/>
          </a:xfrm>
          <a:prstGeom prst="roundRect">
            <a:avLst>
              <a:gd name="adj" fmla="val 5806"/>
            </a:avLst>
          </a:prstGeom>
          <a:solidFill>
            <a:srgbClr val="121A2E"/>
          </a:solidFill>
          <a:ln w="9525">
            <a:solidFill>
              <a:srgbClr val="2A3555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41" name="Shape 39"/>
          <p:cNvSpPr/>
          <p:nvPr/>
        </p:nvSpPr>
        <p:spPr>
          <a:xfrm>
            <a:off x="1348740" y="4498848"/>
            <a:ext cx="457200" cy="457200"/>
          </a:xfrm>
          <a:prstGeom prst="ellipse">
            <a:avLst/>
          </a:prstGeom>
          <a:solidFill>
            <a:srgbClr val="34D399"/>
          </a:solidFill>
          <a:ln/>
        </p:spPr>
      </p:sp>
      <p:sp>
        <p:nvSpPr>
          <p:cNvPr id="42" name="Text 40"/>
          <p:cNvSpPr txBox="1"/>
          <p:nvPr/>
        </p:nvSpPr>
        <p:spPr>
          <a:xfrm>
            <a:off x="603504" y="5056632"/>
            <a:ext cx="19476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</a:t>
            </a:r>
            <a:endParaRPr lang="en-US" sz="1150" dirty="0"/>
          </a:p>
        </p:txBody>
      </p:sp>
      <p:sp>
        <p:nvSpPr>
          <p:cNvPr id="43" name="Text 41"/>
          <p:cNvSpPr txBox="1"/>
          <p:nvPr/>
        </p:nvSpPr>
        <p:spPr>
          <a:xfrm>
            <a:off x="603504" y="5440680"/>
            <a:ext cx="1947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30" dirty="0">
                <a:solidFill>
                  <a:srgbClr val="9BA8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Ops visibility</a:t>
            </a:r>
            <a:endParaRPr lang="en-US" sz="830" dirty="0"/>
          </a:p>
        </p:txBody>
      </p:sp>
      <p:sp>
        <p:nvSpPr>
          <p:cNvPr id="44" name="Text 42"/>
          <p:cNvSpPr txBox="1"/>
          <p:nvPr/>
        </p:nvSpPr>
        <p:spPr>
          <a:xfrm>
            <a:off x="2615184" y="2697480"/>
            <a:ext cx="182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6B7A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300" dirty="0"/>
          </a:p>
        </p:txBody>
      </p:sp>
      <p:sp>
        <p:nvSpPr>
          <p:cNvPr id="45" name="Text 43"/>
          <p:cNvSpPr txBox="1"/>
          <p:nvPr/>
        </p:nvSpPr>
        <p:spPr>
          <a:xfrm>
            <a:off x="4873752" y="2697480"/>
            <a:ext cx="182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6B7A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300" dirty="0"/>
          </a:p>
        </p:txBody>
      </p:sp>
      <p:sp>
        <p:nvSpPr>
          <p:cNvPr id="46" name="Text 44"/>
          <p:cNvSpPr txBox="1"/>
          <p:nvPr/>
        </p:nvSpPr>
        <p:spPr>
          <a:xfrm>
            <a:off x="7132320" y="2697480"/>
            <a:ext cx="182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6B7A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300" dirty="0"/>
          </a:p>
        </p:txBody>
      </p:sp>
      <p:sp>
        <p:nvSpPr>
          <p:cNvPr id="47" name="Text 45"/>
          <p:cNvSpPr txBox="1"/>
          <p:nvPr/>
        </p:nvSpPr>
        <p:spPr>
          <a:xfrm>
            <a:off x="9390888" y="2697480"/>
            <a:ext cx="182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6B7A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300" dirty="0"/>
          </a:p>
        </p:txBody>
      </p:sp>
      <p:sp>
        <p:nvSpPr>
          <p:cNvPr id="48" name="Text 46"/>
          <p:cNvSpPr txBox="1"/>
          <p:nvPr/>
        </p:nvSpPr>
        <p:spPr>
          <a:xfrm>
            <a:off x="2615184" y="4892040"/>
            <a:ext cx="182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6B7A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←</a:t>
            </a:r>
            <a:endParaRPr lang="en-US" sz="1300" dirty="0"/>
          </a:p>
        </p:txBody>
      </p:sp>
      <p:sp>
        <p:nvSpPr>
          <p:cNvPr id="49" name="Text 47"/>
          <p:cNvSpPr txBox="1"/>
          <p:nvPr/>
        </p:nvSpPr>
        <p:spPr>
          <a:xfrm>
            <a:off x="4873752" y="4892040"/>
            <a:ext cx="182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6B7A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←</a:t>
            </a:r>
            <a:endParaRPr lang="en-US" sz="1300" dirty="0"/>
          </a:p>
        </p:txBody>
      </p:sp>
      <p:sp>
        <p:nvSpPr>
          <p:cNvPr id="50" name="Text 48"/>
          <p:cNvSpPr txBox="1"/>
          <p:nvPr/>
        </p:nvSpPr>
        <p:spPr>
          <a:xfrm>
            <a:off x="7132320" y="4892040"/>
            <a:ext cx="182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6B7A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←</a:t>
            </a:r>
            <a:endParaRPr lang="en-US" sz="1300" dirty="0"/>
          </a:p>
        </p:txBody>
      </p:sp>
      <p:sp>
        <p:nvSpPr>
          <p:cNvPr id="51" name="Text 49"/>
          <p:cNvSpPr txBox="1"/>
          <p:nvPr/>
        </p:nvSpPr>
        <p:spPr>
          <a:xfrm>
            <a:off x="9390888" y="4892040"/>
            <a:ext cx="182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6B7A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←</a:t>
            </a:r>
            <a:endParaRPr lang="en-US" sz="1300" dirty="0"/>
          </a:p>
        </p:txBody>
      </p:sp>
      <p:sp>
        <p:nvSpPr>
          <p:cNvPr id="52" name="Shape 50"/>
          <p:cNvSpPr/>
          <p:nvPr/>
        </p:nvSpPr>
        <p:spPr>
          <a:xfrm>
            <a:off x="10529316" y="3593592"/>
            <a:ext cx="164592" cy="722376"/>
          </a:xfrm>
          <a:prstGeom prst="downArrow">
            <a:avLst/>
          </a:prstGeom>
          <a:solidFill>
            <a:srgbClr val="2DD4BF"/>
          </a:solidFill>
          <a:ln/>
        </p:spPr>
      </p:sp>
      <p:sp>
        <p:nvSpPr>
          <p:cNvPr id="53" name="Text 51"/>
          <p:cNvSpPr txBox="1"/>
          <p:nvPr/>
        </p:nvSpPr>
        <p:spPr>
          <a:xfrm>
            <a:off x="457200" y="6528816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6B7A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RECOVERAI</a:t>
            </a:r>
            <a:endParaRPr lang="en-US" sz="900" dirty="0"/>
          </a:p>
        </p:txBody>
      </p:sp>
      <p:sp>
        <p:nvSpPr>
          <p:cNvPr id="54" name="Text 52"/>
          <p:cNvSpPr txBox="1"/>
          <p:nvPr/>
        </p:nvSpPr>
        <p:spPr>
          <a:xfrm>
            <a:off x="8074152" y="6528816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A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Razorpay AI Buildathon 2026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A0F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— EXPERIMENT RESULTS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2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RecoverAI Improved Recovery Economics in Simulation</a:t>
            </a:r>
            <a:endParaRPr lang="en-US" sz="23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691640"/>
            <a:ext cx="203545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+11.96%</a:t>
            </a:r>
            <a:endParaRPr lang="en-US" sz="30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2176272"/>
            <a:ext cx="203545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50" kern="0" dirty="0">
                <a:solidFill>
                  <a:srgbClr val="9BA8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 RECOVERY IMPROVEMENT</a:t>
            </a:r>
            <a:endParaRPr lang="en-US" sz="900" dirty="0"/>
          </a:p>
        </p:txBody>
      </p:sp>
      <p:sp>
        <p:nvSpPr>
          <p:cNvPr id="6" name="Text 4"/>
          <p:cNvSpPr txBox="1"/>
          <p:nvPr/>
        </p:nvSpPr>
        <p:spPr>
          <a:xfrm>
            <a:off x="2766974" y="1691640"/>
            <a:ext cx="203545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₹64,45,161</a:t>
            </a:r>
            <a:endParaRPr lang="en-US" sz="2600" dirty="0"/>
          </a:p>
        </p:txBody>
      </p:sp>
      <p:sp>
        <p:nvSpPr>
          <p:cNvPr id="7" name="Text 5"/>
          <p:cNvSpPr txBox="1"/>
          <p:nvPr/>
        </p:nvSpPr>
        <p:spPr>
          <a:xfrm>
            <a:off x="2766974" y="2176272"/>
            <a:ext cx="203545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50" kern="0" dirty="0">
                <a:solidFill>
                  <a:srgbClr val="9BA8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INCREMENTAL NET RECOVERY</a:t>
            </a:r>
            <a:endParaRPr lang="en-US" sz="900" dirty="0"/>
          </a:p>
        </p:txBody>
      </p:sp>
      <p:sp>
        <p:nvSpPr>
          <p:cNvPr id="8" name="Text 6"/>
          <p:cNvSpPr txBox="1"/>
          <p:nvPr/>
        </p:nvSpPr>
        <p:spPr>
          <a:xfrm>
            <a:off x="4985309" y="1691640"/>
            <a:ext cx="203545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54.50%</a:t>
            </a:r>
            <a:endParaRPr lang="en-US" sz="3000" dirty="0"/>
          </a:p>
        </p:txBody>
      </p:sp>
      <p:sp>
        <p:nvSpPr>
          <p:cNvPr id="9" name="Text 7"/>
          <p:cNvSpPr txBox="1"/>
          <p:nvPr/>
        </p:nvSpPr>
        <p:spPr>
          <a:xfrm>
            <a:off x="4985309" y="2176272"/>
            <a:ext cx="203545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50" kern="0" dirty="0">
                <a:solidFill>
                  <a:srgbClr val="9BA8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RECOVERY RATE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7203643" y="1691640"/>
            <a:ext cx="203545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2,725</a:t>
            </a:r>
            <a:endParaRPr lang="en-US" sz="3000" dirty="0"/>
          </a:p>
        </p:txBody>
      </p:sp>
      <p:sp>
        <p:nvSpPr>
          <p:cNvPr id="11" name="Text 9"/>
          <p:cNvSpPr txBox="1"/>
          <p:nvPr/>
        </p:nvSpPr>
        <p:spPr>
          <a:xfrm>
            <a:off x="7203643" y="2176272"/>
            <a:ext cx="203545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50" kern="0" dirty="0">
                <a:solidFill>
                  <a:srgbClr val="9BA8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SUCCESSFUL RECOVERIES</a:t>
            </a:r>
            <a:endParaRPr lang="en-US" sz="900" dirty="0"/>
          </a:p>
        </p:txBody>
      </p:sp>
      <p:sp>
        <p:nvSpPr>
          <p:cNvPr id="12" name="Text 10"/>
          <p:cNvSpPr txBox="1"/>
          <p:nvPr/>
        </p:nvSpPr>
        <p:spPr>
          <a:xfrm>
            <a:off x="9421978" y="1691640"/>
            <a:ext cx="203545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92.80%</a:t>
            </a:r>
            <a:endParaRPr lang="en-US" sz="3000" dirty="0"/>
          </a:p>
        </p:txBody>
      </p:sp>
      <p:sp>
        <p:nvSpPr>
          <p:cNvPr id="13" name="Text 11"/>
          <p:cNvSpPr txBox="1"/>
          <p:nvPr/>
        </p:nvSpPr>
        <p:spPr>
          <a:xfrm>
            <a:off x="9421978" y="2176272"/>
            <a:ext cx="203545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50" kern="0" dirty="0">
                <a:solidFill>
                  <a:srgbClr val="9BA8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ROUTED TO HUMAN REVIEW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548640" y="2743200"/>
            <a:ext cx="11091672" cy="0"/>
          </a:xfrm>
          <a:prstGeom prst="line">
            <a:avLst/>
          </a:prstGeom>
          <a:noFill/>
          <a:ln w="12700">
            <a:solidFill>
              <a:srgbClr val="2A3555"/>
            </a:solidFill>
            <a:prstDash val="solid"/>
          </a:ln>
        </p:spPr>
      </p:sp>
      <p:graphicFrame>
        <p:nvGraphicFramePr>
          <p:cNvPr id="15" name="Chart 0" descr=""/>
          <p:cNvGraphicFramePr/>
          <p:nvPr/>
        </p:nvGraphicFramePr>
        <p:xfrm>
          <a:off x="548640" y="2926080"/>
          <a:ext cx="5394960" cy="25146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16" name="Shape 13"/>
          <p:cNvSpPr/>
          <p:nvPr/>
        </p:nvSpPr>
        <p:spPr>
          <a:xfrm>
            <a:off x="6172200" y="2926080"/>
            <a:ext cx="5486400" cy="365760"/>
          </a:xfrm>
          <a:prstGeom prst="rect">
            <a:avLst/>
          </a:prstGeom>
          <a:solidFill>
            <a:srgbClr val="1C2645"/>
          </a:solidFill>
          <a:ln/>
        </p:spPr>
      </p:sp>
      <p:sp>
        <p:nvSpPr>
          <p:cNvPr id="17" name="Text 14"/>
          <p:cNvSpPr txBox="1"/>
          <p:nvPr/>
        </p:nvSpPr>
        <p:spPr>
          <a:xfrm>
            <a:off x="6336792" y="292608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Metric</a:t>
            </a:r>
            <a:endParaRPr lang="en-US" sz="1000" dirty="0"/>
          </a:p>
        </p:txBody>
      </p:sp>
      <p:sp>
        <p:nvSpPr>
          <p:cNvPr id="18" name="Text 15"/>
          <p:cNvSpPr txBox="1"/>
          <p:nvPr/>
        </p:nvSpPr>
        <p:spPr>
          <a:xfrm>
            <a:off x="8732520" y="292608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Baseline</a:t>
            </a:r>
            <a:endParaRPr lang="en-US" sz="1000" dirty="0"/>
          </a:p>
        </p:txBody>
      </p:sp>
      <p:sp>
        <p:nvSpPr>
          <p:cNvPr id="19" name="Text 16"/>
          <p:cNvSpPr txBox="1"/>
          <p:nvPr/>
        </p:nvSpPr>
        <p:spPr>
          <a:xfrm>
            <a:off x="10195560" y="292608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RecoverAI</a:t>
            </a:r>
            <a:endParaRPr lang="en-US" sz="1000" dirty="0"/>
          </a:p>
        </p:txBody>
      </p:sp>
      <p:sp>
        <p:nvSpPr>
          <p:cNvPr id="20" name="Text 17"/>
          <p:cNvSpPr txBox="1"/>
          <p:nvPr/>
        </p:nvSpPr>
        <p:spPr>
          <a:xfrm>
            <a:off x="6336792" y="329184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Recovered Revenue</a:t>
            </a:r>
            <a:endParaRPr lang="en-US" sz="1050" dirty="0"/>
          </a:p>
        </p:txBody>
      </p:sp>
      <p:sp>
        <p:nvSpPr>
          <p:cNvPr id="21" name="Text 18"/>
          <p:cNvSpPr txBox="1"/>
          <p:nvPr/>
        </p:nvSpPr>
        <p:spPr>
          <a:xfrm>
            <a:off x="8732520" y="329184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9BA8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₹5,40,04,644</a:t>
            </a:r>
            <a:endParaRPr lang="en-US" sz="1050" dirty="0"/>
          </a:p>
        </p:txBody>
      </p:sp>
      <p:sp>
        <p:nvSpPr>
          <p:cNvPr id="22" name="Text 19"/>
          <p:cNvSpPr txBox="1"/>
          <p:nvPr/>
        </p:nvSpPr>
        <p:spPr>
          <a:xfrm>
            <a:off x="10195560" y="329184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₹6,08,20,196</a:t>
            </a:r>
            <a:endParaRPr lang="en-US" sz="1050" dirty="0"/>
          </a:p>
        </p:txBody>
      </p:sp>
      <p:sp>
        <p:nvSpPr>
          <p:cNvPr id="23" name="Shape 20"/>
          <p:cNvSpPr/>
          <p:nvPr/>
        </p:nvSpPr>
        <p:spPr>
          <a:xfrm>
            <a:off x="6172200" y="3657600"/>
            <a:ext cx="5486400" cy="365760"/>
          </a:xfrm>
          <a:prstGeom prst="rect">
            <a:avLst/>
          </a:prstGeom>
          <a:solidFill>
            <a:srgbClr val="121A2E"/>
          </a:solidFill>
          <a:ln/>
        </p:spPr>
      </p:sp>
      <p:sp>
        <p:nvSpPr>
          <p:cNvPr id="24" name="Text 21"/>
          <p:cNvSpPr txBox="1"/>
          <p:nvPr/>
        </p:nvSpPr>
        <p:spPr>
          <a:xfrm>
            <a:off x="6336792" y="365760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Intervention Cost</a:t>
            </a:r>
            <a:endParaRPr lang="en-US" sz="1050" dirty="0"/>
          </a:p>
        </p:txBody>
      </p:sp>
      <p:sp>
        <p:nvSpPr>
          <p:cNvPr id="25" name="Text 22"/>
          <p:cNvSpPr txBox="1"/>
          <p:nvPr/>
        </p:nvSpPr>
        <p:spPr>
          <a:xfrm>
            <a:off x="8732520" y="365760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9BA8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₹1,00,000</a:t>
            </a:r>
            <a:endParaRPr lang="en-US" sz="1050" dirty="0"/>
          </a:p>
        </p:txBody>
      </p:sp>
      <p:sp>
        <p:nvSpPr>
          <p:cNvPr id="26" name="Text 23"/>
          <p:cNvSpPr txBox="1"/>
          <p:nvPr/>
        </p:nvSpPr>
        <p:spPr>
          <a:xfrm>
            <a:off x="10195560" y="365760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₹4,70,390</a:t>
            </a:r>
            <a:endParaRPr lang="en-US" sz="1050" dirty="0"/>
          </a:p>
        </p:txBody>
      </p:sp>
      <p:sp>
        <p:nvSpPr>
          <p:cNvPr id="27" name="Text 24"/>
          <p:cNvSpPr txBox="1"/>
          <p:nvPr/>
        </p:nvSpPr>
        <p:spPr>
          <a:xfrm>
            <a:off x="6336792" y="402336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 Recovery</a:t>
            </a:r>
            <a:endParaRPr lang="en-US" sz="1050" dirty="0"/>
          </a:p>
        </p:txBody>
      </p:sp>
      <p:sp>
        <p:nvSpPr>
          <p:cNvPr id="28" name="Text 25"/>
          <p:cNvSpPr txBox="1"/>
          <p:nvPr/>
        </p:nvSpPr>
        <p:spPr>
          <a:xfrm>
            <a:off x="8732520" y="402336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9BA8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₹5,39,04,644</a:t>
            </a:r>
            <a:endParaRPr lang="en-US" sz="1050" dirty="0"/>
          </a:p>
        </p:txBody>
      </p:sp>
      <p:sp>
        <p:nvSpPr>
          <p:cNvPr id="29" name="Text 26"/>
          <p:cNvSpPr txBox="1"/>
          <p:nvPr/>
        </p:nvSpPr>
        <p:spPr>
          <a:xfrm>
            <a:off x="10195560" y="402336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₹6,03,49,806</a:t>
            </a:r>
            <a:endParaRPr lang="en-US" sz="1050" dirty="0"/>
          </a:p>
        </p:txBody>
      </p:sp>
      <p:sp>
        <p:nvSpPr>
          <p:cNvPr id="30" name="Shape 27"/>
          <p:cNvSpPr/>
          <p:nvPr/>
        </p:nvSpPr>
        <p:spPr>
          <a:xfrm>
            <a:off x="6172200" y="4389120"/>
            <a:ext cx="5486400" cy="365760"/>
          </a:xfrm>
          <a:prstGeom prst="rect">
            <a:avLst/>
          </a:prstGeom>
          <a:solidFill>
            <a:srgbClr val="121A2E"/>
          </a:solidFill>
          <a:ln/>
        </p:spPr>
      </p:sp>
      <p:sp>
        <p:nvSpPr>
          <p:cNvPr id="31" name="Text 28"/>
          <p:cNvSpPr txBox="1"/>
          <p:nvPr/>
        </p:nvSpPr>
        <p:spPr>
          <a:xfrm>
            <a:off x="6336792" y="438912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Recovery Rate</a:t>
            </a:r>
            <a:endParaRPr lang="en-US" sz="1050" dirty="0"/>
          </a:p>
        </p:txBody>
      </p:sp>
      <p:sp>
        <p:nvSpPr>
          <p:cNvPr id="32" name="Text 29"/>
          <p:cNvSpPr txBox="1"/>
          <p:nvPr/>
        </p:nvSpPr>
        <p:spPr>
          <a:xfrm>
            <a:off x="8732520" y="438912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9BA8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47.72%</a:t>
            </a:r>
            <a:endParaRPr lang="en-US" sz="1050" dirty="0"/>
          </a:p>
        </p:txBody>
      </p:sp>
      <p:sp>
        <p:nvSpPr>
          <p:cNvPr id="33" name="Text 30"/>
          <p:cNvSpPr txBox="1"/>
          <p:nvPr/>
        </p:nvSpPr>
        <p:spPr>
          <a:xfrm>
            <a:off x="10195560" y="438912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54.50%</a:t>
            </a:r>
            <a:endParaRPr lang="en-US" sz="1050" dirty="0"/>
          </a:p>
        </p:txBody>
      </p:sp>
      <p:sp>
        <p:nvSpPr>
          <p:cNvPr id="34" name="Text 31"/>
          <p:cNvSpPr txBox="1"/>
          <p:nvPr/>
        </p:nvSpPr>
        <p:spPr>
          <a:xfrm>
            <a:off x="6336792" y="475488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Successful Recoveries</a:t>
            </a:r>
            <a:endParaRPr lang="en-US" sz="1050" dirty="0"/>
          </a:p>
        </p:txBody>
      </p:sp>
      <p:sp>
        <p:nvSpPr>
          <p:cNvPr id="35" name="Text 32"/>
          <p:cNvSpPr txBox="1"/>
          <p:nvPr/>
        </p:nvSpPr>
        <p:spPr>
          <a:xfrm>
            <a:off x="8732520" y="475488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9BA8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2,386</a:t>
            </a:r>
            <a:endParaRPr lang="en-US" sz="1050" dirty="0"/>
          </a:p>
        </p:txBody>
      </p:sp>
      <p:sp>
        <p:nvSpPr>
          <p:cNvPr id="36" name="Text 33"/>
          <p:cNvSpPr txBox="1"/>
          <p:nvPr/>
        </p:nvSpPr>
        <p:spPr>
          <a:xfrm>
            <a:off x="10195560" y="475488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2,725</a:t>
            </a:r>
            <a:endParaRPr lang="en-US" sz="1050" dirty="0"/>
          </a:p>
        </p:txBody>
      </p:sp>
      <p:sp>
        <p:nvSpPr>
          <p:cNvPr id="37" name="Shape 34"/>
          <p:cNvSpPr/>
          <p:nvPr/>
        </p:nvSpPr>
        <p:spPr>
          <a:xfrm>
            <a:off x="6172200" y="5120640"/>
            <a:ext cx="5486400" cy="0"/>
          </a:xfrm>
          <a:prstGeom prst="line">
            <a:avLst/>
          </a:prstGeom>
          <a:noFill/>
          <a:ln w="12700">
            <a:solidFill>
              <a:srgbClr val="2A3555"/>
            </a:solidFill>
            <a:prstDash val="solid"/>
          </a:ln>
        </p:spPr>
      </p:sp>
      <p:sp>
        <p:nvSpPr>
          <p:cNvPr id="38" name="Shape 35"/>
          <p:cNvSpPr/>
          <p:nvPr/>
        </p:nvSpPr>
        <p:spPr>
          <a:xfrm>
            <a:off x="6172200" y="5303520"/>
            <a:ext cx="5486400" cy="658368"/>
          </a:xfrm>
          <a:prstGeom prst="roundRect">
            <a:avLst>
              <a:gd name="adj" fmla="val 12500"/>
            </a:avLst>
          </a:prstGeom>
          <a:solidFill>
            <a:srgbClr val="182140"/>
          </a:solidFill>
          <a:ln w="9525">
            <a:solidFill>
              <a:srgbClr val="2A3555"/>
            </a:solidFill>
            <a:prstDash val="solid"/>
          </a:ln>
        </p:spPr>
      </p:sp>
      <p:sp>
        <p:nvSpPr>
          <p:cNvPr id="39" name="Text 36"/>
          <p:cNvSpPr txBox="1"/>
          <p:nvPr/>
        </p:nvSpPr>
        <p:spPr>
          <a:xfrm>
            <a:off x="6355080" y="5358384"/>
            <a:ext cx="5120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 are from a synthetic evaluation dataset and demonstrate the potential business impact of the decision strategy. They are not real-world production revenue claims.</a:t>
            </a:r>
            <a:endParaRPr lang="en-US" sz="900" dirty="0"/>
          </a:p>
        </p:txBody>
      </p:sp>
      <p:sp>
        <p:nvSpPr>
          <p:cNvPr id="40" name="Text 37"/>
          <p:cNvSpPr txBox="1"/>
          <p:nvPr/>
        </p:nvSpPr>
        <p:spPr>
          <a:xfrm>
            <a:off x="457200" y="6528816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6B7A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RECOVERAI</a:t>
            </a:r>
            <a:endParaRPr lang="en-US" sz="900" dirty="0"/>
          </a:p>
        </p:txBody>
      </p:sp>
      <p:sp>
        <p:nvSpPr>
          <p:cNvPr id="41" name="Text 38"/>
          <p:cNvSpPr txBox="1"/>
          <p:nvPr/>
        </p:nvSpPr>
        <p:spPr>
          <a:xfrm>
            <a:off x="8074152" y="6528816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A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Razorpay AI Buildathon 2026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A0F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— ENGINEERING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Built as an End-to-End AI Decision System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2011680"/>
            <a:ext cx="1665732" cy="3749040"/>
          </a:xfrm>
          <a:prstGeom prst="roundRect">
            <a:avLst>
              <a:gd name="adj" fmla="val 4941"/>
            </a:avLst>
          </a:prstGeom>
          <a:solidFill>
            <a:srgbClr val="121A2E"/>
          </a:solidFill>
          <a:ln w="9525">
            <a:solidFill>
              <a:srgbClr val="2A3555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125474" y="2304288"/>
            <a:ext cx="512064" cy="512064"/>
          </a:xfrm>
          <a:prstGeom prst="roundRect">
            <a:avLst>
              <a:gd name="adj" fmla="val 17857"/>
            </a:avLst>
          </a:prstGeom>
          <a:solidFill>
            <a:srgbClr val="2DD4BF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640080" y="2971800"/>
            <a:ext cx="14828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spc="5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</a:t>
            </a:r>
            <a:endParaRPr lang="en-US" sz="1250" dirty="0"/>
          </a:p>
        </p:txBody>
      </p:sp>
      <p:sp>
        <p:nvSpPr>
          <p:cNvPr id="7" name="Text 5"/>
          <p:cNvSpPr txBox="1"/>
          <p:nvPr/>
        </p:nvSpPr>
        <p:spPr>
          <a:xfrm>
            <a:off x="685800" y="3566160"/>
            <a:ext cx="139141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BA8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</a:t>
            </a:r>
            <a:endParaRPr lang="en-US" sz="1000" dirty="0"/>
          </a:p>
        </p:txBody>
      </p:sp>
      <p:sp>
        <p:nvSpPr>
          <p:cNvPr id="8" name="Text 6"/>
          <p:cNvSpPr txBox="1"/>
          <p:nvPr/>
        </p:nvSpPr>
        <p:spPr>
          <a:xfrm>
            <a:off x="685800" y="4096512"/>
            <a:ext cx="139141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BA8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Vite</a:t>
            </a:r>
            <a:endParaRPr lang="en-US" sz="1000" dirty="0"/>
          </a:p>
        </p:txBody>
      </p:sp>
      <p:sp>
        <p:nvSpPr>
          <p:cNvPr id="9" name="Text 7"/>
          <p:cNvSpPr txBox="1"/>
          <p:nvPr/>
        </p:nvSpPr>
        <p:spPr>
          <a:xfrm>
            <a:off x="685800" y="4626864"/>
            <a:ext cx="139141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BA8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CRM Dashboard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2433828" y="2011680"/>
            <a:ext cx="1665732" cy="3749040"/>
          </a:xfrm>
          <a:prstGeom prst="roundRect">
            <a:avLst>
              <a:gd name="adj" fmla="val 4941"/>
            </a:avLst>
          </a:prstGeom>
          <a:solidFill>
            <a:srgbClr val="121A2E"/>
          </a:solidFill>
          <a:ln w="9525">
            <a:solidFill>
              <a:srgbClr val="2A3555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010662" y="2304288"/>
            <a:ext cx="512064" cy="512064"/>
          </a:xfrm>
          <a:prstGeom prst="roundRect">
            <a:avLst>
              <a:gd name="adj" fmla="val 17857"/>
            </a:avLst>
          </a:prstGeom>
          <a:solidFill>
            <a:srgbClr val="2DD4BF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2525268" y="2971800"/>
            <a:ext cx="14828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spc="5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</a:t>
            </a:r>
            <a:endParaRPr lang="en-US" sz="1250" dirty="0"/>
          </a:p>
        </p:txBody>
      </p:sp>
      <p:sp>
        <p:nvSpPr>
          <p:cNvPr id="13" name="Text 11"/>
          <p:cNvSpPr txBox="1"/>
          <p:nvPr/>
        </p:nvSpPr>
        <p:spPr>
          <a:xfrm>
            <a:off x="2570988" y="3566160"/>
            <a:ext cx="139141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BA8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FastAPI</a:t>
            </a:r>
            <a:endParaRPr lang="en-US" sz="1000" dirty="0"/>
          </a:p>
        </p:txBody>
      </p:sp>
      <p:sp>
        <p:nvSpPr>
          <p:cNvPr id="14" name="Text 12"/>
          <p:cNvSpPr txBox="1"/>
          <p:nvPr/>
        </p:nvSpPr>
        <p:spPr>
          <a:xfrm>
            <a:off x="2570988" y="4096512"/>
            <a:ext cx="139141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BA8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</a:t>
            </a:r>
            <a:endParaRPr lang="en-US" sz="1000" dirty="0"/>
          </a:p>
        </p:txBody>
      </p:sp>
      <p:sp>
        <p:nvSpPr>
          <p:cNvPr id="15" name="Text 13"/>
          <p:cNvSpPr txBox="1"/>
          <p:nvPr/>
        </p:nvSpPr>
        <p:spPr>
          <a:xfrm>
            <a:off x="2570988" y="4626864"/>
            <a:ext cx="139141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BA8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 API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4319016" y="2011680"/>
            <a:ext cx="1665732" cy="3749040"/>
          </a:xfrm>
          <a:prstGeom prst="roundRect">
            <a:avLst>
              <a:gd name="adj" fmla="val 4941"/>
            </a:avLst>
          </a:prstGeom>
          <a:solidFill>
            <a:srgbClr val="121A2E"/>
          </a:solidFill>
          <a:ln w="9525">
            <a:solidFill>
              <a:srgbClr val="2A3555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895850" y="2304288"/>
            <a:ext cx="512064" cy="512064"/>
          </a:xfrm>
          <a:prstGeom prst="roundRect">
            <a:avLst>
              <a:gd name="adj" fmla="val 17857"/>
            </a:avLst>
          </a:prstGeom>
          <a:solidFill>
            <a:srgbClr val="34D399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4410456" y="2971800"/>
            <a:ext cx="14828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spc="5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/ ML</a:t>
            </a:r>
            <a:endParaRPr lang="en-US" sz="1250" dirty="0"/>
          </a:p>
        </p:txBody>
      </p:sp>
      <p:sp>
        <p:nvSpPr>
          <p:cNvPr id="19" name="Text 17"/>
          <p:cNvSpPr txBox="1"/>
          <p:nvPr/>
        </p:nvSpPr>
        <p:spPr>
          <a:xfrm>
            <a:off x="4456176" y="3566160"/>
            <a:ext cx="139141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BA8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XGBoost</a:t>
            </a:r>
            <a:endParaRPr lang="en-US" sz="1000" dirty="0"/>
          </a:p>
        </p:txBody>
      </p:sp>
      <p:sp>
        <p:nvSpPr>
          <p:cNvPr id="20" name="Text 18"/>
          <p:cNvSpPr txBox="1"/>
          <p:nvPr/>
        </p:nvSpPr>
        <p:spPr>
          <a:xfrm>
            <a:off x="4456176" y="4096512"/>
            <a:ext cx="139141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BA8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Synthetic Dataset</a:t>
            </a:r>
            <a:endParaRPr lang="en-US" sz="1000" dirty="0"/>
          </a:p>
        </p:txBody>
      </p:sp>
      <p:sp>
        <p:nvSpPr>
          <p:cNvPr id="21" name="Text 19"/>
          <p:cNvSpPr txBox="1"/>
          <p:nvPr/>
        </p:nvSpPr>
        <p:spPr>
          <a:xfrm>
            <a:off x="4456176" y="4626864"/>
            <a:ext cx="139141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BA8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Evaluation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6204204" y="2011680"/>
            <a:ext cx="1665732" cy="3749040"/>
          </a:xfrm>
          <a:prstGeom prst="roundRect">
            <a:avLst>
              <a:gd name="adj" fmla="val 4941"/>
            </a:avLst>
          </a:prstGeom>
          <a:solidFill>
            <a:srgbClr val="121A2E"/>
          </a:solidFill>
          <a:ln w="9525">
            <a:solidFill>
              <a:srgbClr val="2A3555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6781038" y="2304288"/>
            <a:ext cx="512064" cy="512064"/>
          </a:xfrm>
          <a:prstGeom prst="roundRect">
            <a:avLst>
              <a:gd name="adj" fmla="val 17857"/>
            </a:avLst>
          </a:prstGeom>
          <a:solidFill>
            <a:srgbClr val="F5A623"/>
          </a:solidFill>
          <a:ln/>
        </p:spPr>
      </p:sp>
      <p:sp>
        <p:nvSpPr>
          <p:cNvPr id="24" name="Text 22"/>
          <p:cNvSpPr txBox="1"/>
          <p:nvPr/>
        </p:nvSpPr>
        <p:spPr>
          <a:xfrm>
            <a:off x="6295644" y="2971800"/>
            <a:ext cx="14828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spc="5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DECISIONING</a:t>
            </a:r>
            <a:endParaRPr lang="en-US" sz="1250" dirty="0"/>
          </a:p>
        </p:txBody>
      </p:sp>
      <p:sp>
        <p:nvSpPr>
          <p:cNvPr id="25" name="Text 23"/>
          <p:cNvSpPr txBox="1"/>
          <p:nvPr/>
        </p:nvSpPr>
        <p:spPr>
          <a:xfrm>
            <a:off x="6341364" y="3566160"/>
            <a:ext cx="139141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BA8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Intervention Optimization</a:t>
            </a:r>
            <a:endParaRPr lang="en-US" sz="1000" dirty="0"/>
          </a:p>
        </p:txBody>
      </p:sp>
      <p:sp>
        <p:nvSpPr>
          <p:cNvPr id="26" name="Text 24"/>
          <p:cNvSpPr txBox="1"/>
          <p:nvPr/>
        </p:nvSpPr>
        <p:spPr>
          <a:xfrm>
            <a:off x="6341364" y="4096512"/>
            <a:ext cx="139141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BA8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Deterministic Policy Engine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8089392" y="2011680"/>
            <a:ext cx="1665732" cy="3749040"/>
          </a:xfrm>
          <a:prstGeom prst="roundRect">
            <a:avLst>
              <a:gd name="adj" fmla="val 4941"/>
            </a:avLst>
          </a:prstGeom>
          <a:solidFill>
            <a:srgbClr val="121A2E"/>
          </a:solidFill>
          <a:ln w="9525">
            <a:solidFill>
              <a:srgbClr val="2A3555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8666226" y="2304288"/>
            <a:ext cx="512064" cy="512064"/>
          </a:xfrm>
          <a:prstGeom prst="roundRect">
            <a:avLst>
              <a:gd name="adj" fmla="val 17857"/>
            </a:avLst>
          </a:prstGeom>
          <a:solidFill>
            <a:srgbClr val="9BA8C4"/>
          </a:solidFill>
          <a:ln/>
        </p:spPr>
      </p:sp>
      <p:sp>
        <p:nvSpPr>
          <p:cNvPr id="29" name="Text 27"/>
          <p:cNvSpPr txBox="1"/>
          <p:nvPr/>
        </p:nvSpPr>
        <p:spPr>
          <a:xfrm>
            <a:off x="8180832" y="2971800"/>
            <a:ext cx="14828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spc="5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/ AUDIT</a:t>
            </a:r>
            <a:endParaRPr lang="en-US" sz="1250" dirty="0"/>
          </a:p>
        </p:txBody>
      </p:sp>
      <p:sp>
        <p:nvSpPr>
          <p:cNvPr id="30" name="Text 28"/>
          <p:cNvSpPr txBox="1"/>
          <p:nvPr/>
        </p:nvSpPr>
        <p:spPr>
          <a:xfrm>
            <a:off x="8226552" y="3566160"/>
            <a:ext cx="139141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BA8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SQLite</a:t>
            </a:r>
            <a:endParaRPr lang="en-US" sz="1000" dirty="0"/>
          </a:p>
        </p:txBody>
      </p:sp>
      <p:sp>
        <p:nvSpPr>
          <p:cNvPr id="31" name="Text 29"/>
          <p:cNvSpPr txBox="1"/>
          <p:nvPr/>
        </p:nvSpPr>
        <p:spPr>
          <a:xfrm>
            <a:off x="8226552" y="4096512"/>
            <a:ext cx="139141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BA8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 Trail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9974580" y="2011680"/>
            <a:ext cx="1665732" cy="3749040"/>
          </a:xfrm>
          <a:prstGeom prst="roundRect">
            <a:avLst>
              <a:gd name="adj" fmla="val 4941"/>
            </a:avLst>
          </a:prstGeom>
          <a:solidFill>
            <a:srgbClr val="121A2E"/>
          </a:solidFill>
          <a:ln w="9525">
            <a:solidFill>
              <a:srgbClr val="2A3555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10551414" y="2304288"/>
            <a:ext cx="512064" cy="512064"/>
          </a:xfrm>
          <a:prstGeom prst="roundRect">
            <a:avLst>
              <a:gd name="adj" fmla="val 17857"/>
            </a:avLst>
          </a:prstGeom>
          <a:solidFill>
            <a:srgbClr val="F0554B"/>
          </a:solidFill>
          <a:ln/>
        </p:spPr>
      </p:sp>
      <p:sp>
        <p:nvSpPr>
          <p:cNvPr id="34" name="Text 32"/>
          <p:cNvSpPr txBox="1"/>
          <p:nvPr/>
        </p:nvSpPr>
        <p:spPr>
          <a:xfrm>
            <a:off x="10066020" y="2971800"/>
            <a:ext cx="14828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spc="5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TESTING</a:t>
            </a:r>
            <a:endParaRPr lang="en-US" sz="1250" dirty="0"/>
          </a:p>
        </p:txBody>
      </p:sp>
      <p:sp>
        <p:nvSpPr>
          <p:cNvPr id="35" name="Text 33"/>
          <p:cNvSpPr txBox="1"/>
          <p:nvPr/>
        </p:nvSpPr>
        <p:spPr>
          <a:xfrm>
            <a:off x="10111740" y="3566160"/>
            <a:ext cx="139141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BA8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Pytest</a:t>
            </a:r>
            <a:endParaRPr lang="en-US" sz="1000" dirty="0"/>
          </a:p>
        </p:txBody>
      </p:sp>
      <p:sp>
        <p:nvSpPr>
          <p:cNvPr id="36" name="Text 34"/>
          <p:cNvSpPr txBox="1"/>
          <p:nvPr/>
        </p:nvSpPr>
        <p:spPr>
          <a:xfrm>
            <a:off x="548640" y="6035040"/>
            <a:ext cx="110916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i="1" dirty="0">
                <a:solidFill>
                  <a:srgbClr val="9BA8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clean, purpose-built stack — not a sprawling list of technologies.</a:t>
            </a:r>
            <a:endParaRPr lang="en-US" sz="1250" dirty="0"/>
          </a:p>
        </p:txBody>
      </p:sp>
      <p:sp>
        <p:nvSpPr>
          <p:cNvPr id="37" name="Text 35"/>
          <p:cNvSpPr txBox="1"/>
          <p:nvPr/>
        </p:nvSpPr>
        <p:spPr>
          <a:xfrm>
            <a:off x="457200" y="6528816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6B7A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RECOVERAI</a:t>
            </a:r>
            <a:endParaRPr lang="en-US" sz="900" dirty="0"/>
          </a:p>
        </p:txBody>
      </p:sp>
      <p:sp>
        <p:nvSpPr>
          <p:cNvPr id="38" name="Text 36"/>
          <p:cNvSpPr txBox="1"/>
          <p:nvPr/>
        </p:nvSpPr>
        <p:spPr>
          <a:xfrm>
            <a:off x="8074152" y="6528816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A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Razorpay AI Buildathon 2026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A0F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 — PRINCIPLES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Designed for Controlled AI Automation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2103120"/>
            <a:ext cx="2567178" cy="2926080"/>
          </a:xfrm>
          <a:prstGeom prst="roundRect">
            <a:avLst>
              <a:gd name="adj" fmla="val 3206"/>
            </a:avLst>
          </a:prstGeom>
          <a:solidFill>
            <a:srgbClr val="121A2E"/>
          </a:solidFill>
          <a:ln w="9525">
            <a:solidFill>
              <a:srgbClr val="2A3555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777240" y="2286000"/>
            <a:ext cx="210997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2DD4B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4400" dirty="0"/>
          </a:p>
        </p:txBody>
      </p:sp>
      <p:sp>
        <p:nvSpPr>
          <p:cNvPr id="6" name="Text 4"/>
          <p:cNvSpPr txBox="1"/>
          <p:nvPr/>
        </p:nvSpPr>
        <p:spPr>
          <a:xfrm>
            <a:off x="777240" y="3154680"/>
            <a:ext cx="210997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AI-ASSISTED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777240" y="3794760"/>
            <a:ext cx="210997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BA8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 predicts; it does not have unrestricted control.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390138" y="2103120"/>
            <a:ext cx="2567178" cy="2926080"/>
          </a:xfrm>
          <a:prstGeom prst="roundRect">
            <a:avLst>
              <a:gd name="adj" fmla="val 3206"/>
            </a:avLst>
          </a:prstGeom>
          <a:solidFill>
            <a:srgbClr val="121A2E"/>
          </a:solidFill>
          <a:ln w="9525">
            <a:solidFill>
              <a:srgbClr val="2A3555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9" name="Text 7"/>
          <p:cNvSpPr txBox="1"/>
          <p:nvPr/>
        </p:nvSpPr>
        <p:spPr>
          <a:xfrm>
            <a:off x="3618738" y="2286000"/>
            <a:ext cx="210997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34D39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4400" dirty="0"/>
          </a:p>
        </p:txBody>
      </p:sp>
      <p:sp>
        <p:nvSpPr>
          <p:cNvPr id="10" name="Text 8"/>
          <p:cNvSpPr txBox="1"/>
          <p:nvPr/>
        </p:nvSpPr>
        <p:spPr>
          <a:xfrm>
            <a:off x="3618738" y="3154680"/>
            <a:ext cx="210997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ECONOMICALLY AWARE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3618738" y="3794760"/>
            <a:ext cx="210997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BA8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Interventions are evaluated based on expected recovery and cost.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6231636" y="2103120"/>
            <a:ext cx="2567178" cy="2926080"/>
          </a:xfrm>
          <a:prstGeom prst="roundRect">
            <a:avLst>
              <a:gd name="adj" fmla="val 3206"/>
            </a:avLst>
          </a:prstGeom>
          <a:solidFill>
            <a:srgbClr val="121A2E"/>
          </a:solidFill>
          <a:ln w="9525">
            <a:solidFill>
              <a:srgbClr val="2A3555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13" name="Text 11"/>
          <p:cNvSpPr txBox="1"/>
          <p:nvPr/>
        </p:nvSpPr>
        <p:spPr>
          <a:xfrm>
            <a:off x="6460236" y="2286000"/>
            <a:ext cx="210997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5A62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4400" dirty="0"/>
          </a:p>
        </p:txBody>
      </p:sp>
      <p:sp>
        <p:nvSpPr>
          <p:cNvPr id="14" name="Text 12"/>
          <p:cNvSpPr txBox="1"/>
          <p:nvPr/>
        </p:nvSpPr>
        <p:spPr>
          <a:xfrm>
            <a:off x="6460236" y="3154680"/>
            <a:ext cx="210997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DETERMINISTIC SAFETY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6460236" y="3794760"/>
            <a:ext cx="210997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BA8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Explicit rules enforce automation boundaries.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9073134" y="2103120"/>
            <a:ext cx="2567178" cy="2926080"/>
          </a:xfrm>
          <a:prstGeom prst="roundRect">
            <a:avLst>
              <a:gd name="adj" fmla="val 3206"/>
            </a:avLst>
          </a:prstGeom>
          <a:solidFill>
            <a:srgbClr val="121A2E"/>
          </a:solidFill>
          <a:ln w="9525">
            <a:solidFill>
              <a:srgbClr val="2A3555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17" name="Text 15"/>
          <p:cNvSpPr txBox="1"/>
          <p:nvPr/>
        </p:nvSpPr>
        <p:spPr>
          <a:xfrm>
            <a:off x="9301734" y="2286000"/>
            <a:ext cx="210997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9BA8C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lang="en-US" sz="4400" dirty="0"/>
          </a:p>
        </p:txBody>
      </p:sp>
      <p:sp>
        <p:nvSpPr>
          <p:cNvPr id="18" name="Text 16"/>
          <p:cNvSpPr txBox="1"/>
          <p:nvPr/>
        </p:nvSpPr>
        <p:spPr>
          <a:xfrm>
            <a:off x="9301734" y="3154680"/>
            <a:ext cx="210997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AUDITABLE</a:t>
            </a:r>
            <a:endParaRPr lang="en-US" sz="1400" dirty="0"/>
          </a:p>
        </p:txBody>
      </p:sp>
      <p:sp>
        <p:nvSpPr>
          <p:cNvPr id="19" name="Text 17"/>
          <p:cNvSpPr txBox="1"/>
          <p:nvPr/>
        </p:nvSpPr>
        <p:spPr>
          <a:xfrm>
            <a:off x="9301734" y="3794760"/>
            <a:ext cx="210997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BA8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decision and policy reason is recorded.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548640" y="5349240"/>
            <a:ext cx="11091672" cy="777240"/>
          </a:xfrm>
          <a:prstGeom prst="roundRect">
            <a:avLst>
              <a:gd name="adj" fmla="val 10588"/>
            </a:avLst>
          </a:prstGeom>
          <a:solidFill>
            <a:srgbClr val="182140"/>
          </a:solidFill>
          <a:ln w="9525">
            <a:solidFill>
              <a:srgbClr val="2A3555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21" name="Text 19"/>
          <p:cNvSpPr txBox="1"/>
          <p:nvPr/>
        </p:nvSpPr>
        <p:spPr>
          <a:xfrm>
            <a:off x="548640" y="5349240"/>
            <a:ext cx="1109167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2DD4B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Business value  +  Operational safety</a:t>
            </a:r>
            <a:endParaRPr lang="en-US" sz="2000" dirty="0"/>
          </a:p>
        </p:txBody>
      </p:sp>
      <p:sp>
        <p:nvSpPr>
          <p:cNvPr id="22" name="Text 20"/>
          <p:cNvSpPr txBox="1"/>
          <p:nvPr/>
        </p:nvSpPr>
        <p:spPr>
          <a:xfrm>
            <a:off x="457200" y="6528816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6B7A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RECOVERAI</a:t>
            </a:r>
            <a:endParaRPr lang="en-US" sz="900" dirty="0"/>
          </a:p>
        </p:txBody>
      </p:sp>
      <p:sp>
        <p:nvSpPr>
          <p:cNvPr id="23" name="Text 21"/>
          <p:cNvSpPr txBox="1"/>
          <p:nvPr/>
        </p:nvSpPr>
        <p:spPr>
          <a:xfrm>
            <a:off x="8074152" y="6528816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A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Razorpay AI Buildathon 2026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A0F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1005840"/>
            <a:ext cx="45720" cy="45720"/>
          </a:xfrm>
          <a:prstGeom prst="ellipse">
            <a:avLst/>
          </a:prstGeom>
          <a:solidFill>
            <a:srgbClr val="2DD4BF"/>
          </a:solidFill>
          <a:ln/>
        </p:spPr>
      </p:sp>
      <p:sp>
        <p:nvSpPr>
          <p:cNvPr id="3" name="Shape 1"/>
          <p:cNvSpPr/>
          <p:nvPr/>
        </p:nvSpPr>
        <p:spPr>
          <a:xfrm>
            <a:off x="2011680" y="731520"/>
            <a:ext cx="45720" cy="45720"/>
          </a:xfrm>
          <a:prstGeom prst="ellipse">
            <a:avLst/>
          </a:prstGeom>
          <a:solidFill>
            <a:srgbClr val="2DD4BF"/>
          </a:solidFill>
          <a:ln/>
        </p:spPr>
      </p:sp>
      <p:sp>
        <p:nvSpPr>
          <p:cNvPr id="4" name="Shape 2"/>
          <p:cNvSpPr/>
          <p:nvPr/>
        </p:nvSpPr>
        <p:spPr>
          <a:xfrm>
            <a:off x="10698480" y="1097280"/>
            <a:ext cx="45720" cy="45720"/>
          </a:xfrm>
          <a:prstGeom prst="ellipse">
            <a:avLst/>
          </a:prstGeom>
          <a:solidFill>
            <a:srgbClr val="2DD4BF"/>
          </a:solidFill>
          <a:ln/>
        </p:spPr>
      </p:sp>
      <p:sp>
        <p:nvSpPr>
          <p:cNvPr id="5" name="Shape 3"/>
          <p:cNvSpPr/>
          <p:nvPr/>
        </p:nvSpPr>
        <p:spPr>
          <a:xfrm>
            <a:off x="9784080" y="640080"/>
            <a:ext cx="45720" cy="45720"/>
          </a:xfrm>
          <a:prstGeom prst="ellipse">
            <a:avLst/>
          </a:prstGeom>
          <a:solidFill>
            <a:srgbClr val="2DD4BF"/>
          </a:solidFill>
          <a:ln/>
        </p:spPr>
      </p:sp>
      <p:sp>
        <p:nvSpPr>
          <p:cNvPr id="6" name="Shape 4"/>
          <p:cNvSpPr/>
          <p:nvPr/>
        </p:nvSpPr>
        <p:spPr>
          <a:xfrm>
            <a:off x="914400" y="5852160"/>
            <a:ext cx="45720" cy="45720"/>
          </a:xfrm>
          <a:prstGeom prst="ellipse">
            <a:avLst/>
          </a:prstGeom>
          <a:solidFill>
            <a:srgbClr val="2DD4BF"/>
          </a:solidFill>
          <a:ln/>
        </p:spPr>
      </p:sp>
      <p:sp>
        <p:nvSpPr>
          <p:cNvPr id="7" name="Shape 5"/>
          <p:cNvSpPr/>
          <p:nvPr/>
        </p:nvSpPr>
        <p:spPr>
          <a:xfrm>
            <a:off x="1920240" y="6217920"/>
            <a:ext cx="45720" cy="45720"/>
          </a:xfrm>
          <a:prstGeom prst="ellipse">
            <a:avLst/>
          </a:prstGeom>
          <a:solidFill>
            <a:srgbClr val="2DD4BF"/>
          </a:solidFill>
          <a:ln/>
        </p:spPr>
      </p:sp>
      <p:sp>
        <p:nvSpPr>
          <p:cNvPr id="8" name="Shape 6"/>
          <p:cNvSpPr/>
          <p:nvPr/>
        </p:nvSpPr>
        <p:spPr>
          <a:xfrm>
            <a:off x="10424160" y="5943600"/>
            <a:ext cx="45720" cy="45720"/>
          </a:xfrm>
          <a:prstGeom prst="ellipse">
            <a:avLst/>
          </a:prstGeom>
          <a:solidFill>
            <a:srgbClr val="2DD4BF"/>
          </a:solidFill>
          <a:ln/>
        </p:spPr>
      </p:sp>
      <p:sp>
        <p:nvSpPr>
          <p:cNvPr id="9" name="Shape 7"/>
          <p:cNvSpPr/>
          <p:nvPr/>
        </p:nvSpPr>
        <p:spPr>
          <a:xfrm>
            <a:off x="11155680" y="5577840"/>
            <a:ext cx="45720" cy="45720"/>
          </a:xfrm>
          <a:prstGeom prst="ellipse">
            <a:avLst/>
          </a:prstGeom>
          <a:solidFill>
            <a:srgbClr val="2DD4BF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731520" y="594360"/>
            <a:ext cx="1072591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2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RECOVER MORE.  AUTOMATE SAFELY.</a:t>
            </a:r>
            <a:endParaRPr lang="en-US" sz="2700" dirty="0"/>
          </a:p>
          <a:p>
            <a:pPr algn="ctr" indent="0" marL="0">
              <a:lnSpc>
                <a:spcPct val="115000"/>
              </a:lnSpc>
              <a:buNone/>
            </a:pPr>
            <a:r>
              <a:rPr lang="en-US" sz="2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EXPLAIN EVERY DECISION.</a:t>
            </a:r>
            <a:endParaRPr lang="en-US" sz="2700" dirty="0"/>
          </a:p>
        </p:txBody>
      </p:sp>
      <p:sp>
        <p:nvSpPr>
          <p:cNvPr id="11" name="Shape 9"/>
          <p:cNvSpPr/>
          <p:nvPr/>
        </p:nvSpPr>
        <p:spPr>
          <a:xfrm>
            <a:off x="548640" y="1965960"/>
            <a:ext cx="1696212" cy="1051560"/>
          </a:xfrm>
          <a:prstGeom prst="roundRect">
            <a:avLst>
              <a:gd name="adj" fmla="val 7826"/>
            </a:avLst>
          </a:prstGeom>
          <a:solidFill>
            <a:srgbClr val="121A2E"/>
          </a:solidFill>
          <a:ln w="9525">
            <a:solidFill>
              <a:srgbClr val="2A3555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213866" y="2103120"/>
            <a:ext cx="365760" cy="365760"/>
          </a:xfrm>
          <a:prstGeom prst="ellipse">
            <a:avLst/>
          </a:prstGeom>
          <a:solidFill>
            <a:srgbClr val="F0554B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1213866" y="210312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A0F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14" name="Text 12"/>
          <p:cNvSpPr txBox="1"/>
          <p:nvPr/>
        </p:nvSpPr>
        <p:spPr>
          <a:xfrm>
            <a:off x="603504" y="2532888"/>
            <a:ext cx="158648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3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PAYMENT</a:t>
            </a:r>
            <a:endParaRPr lang="en-US" sz="930" dirty="0"/>
          </a:p>
        </p:txBody>
      </p:sp>
      <p:sp>
        <p:nvSpPr>
          <p:cNvPr id="15" name="Text 13"/>
          <p:cNvSpPr txBox="1"/>
          <p:nvPr/>
        </p:nvSpPr>
        <p:spPr>
          <a:xfrm>
            <a:off x="2253996" y="2221992"/>
            <a:ext cx="1645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B7A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2427732" y="1965960"/>
            <a:ext cx="1696212" cy="1051560"/>
          </a:xfrm>
          <a:prstGeom prst="roundRect">
            <a:avLst>
              <a:gd name="adj" fmla="val 7826"/>
            </a:avLst>
          </a:prstGeom>
          <a:solidFill>
            <a:srgbClr val="121A2E"/>
          </a:solidFill>
          <a:ln w="9525">
            <a:solidFill>
              <a:srgbClr val="2A3555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3092958" y="2103120"/>
            <a:ext cx="365760" cy="365760"/>
          </a:xfrm>
          <a:prstGeom prst="ellipse">
            <a:avLst/>
          </a:prstGeom>
          <a:solidFill>
            <a:srgbClr val="2DD4BF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3092958" y="210312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A0F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19" name="Text 17"/>
          <p:cNvSpPr txBox="1"/>
          <p:nvPr/>
        </p:nvSpPr>
        <p:spPr>
          <a:xfrm>
            <a:off x="2482596" y="2532888"/>
            <a:ext cx="158648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3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PREDICTION</a:t>
            </a:r>
            <a:endParaRPr lang="en-US" sz="930" dirty="0"/>
          </a:p>
        </p:txBody>
      </p:sp>
      <p:sp>
        <p:nvSpPr>
          <p:cNvPr id="20" name="Text 18"/>
          <p:cNvSpPr txBox="1"/>
          <p:nvPr/>
        </p:nvSpPr>
        <p:spPr>
          <a:xfrm>
            <a:off x="4133088" y="2221992"/>
            <a:ext cx="1645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B7A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4306824" y="1965960"/>
            <a:ext cx="1696212" cy="1051560"/>
          </a:xfrm>
          <a:prstGeom prst="roundRect">
            <a:avLst>
              <a:gd name="adj" fmla="val 7826"/>
            </a:avLst>
          </a:prstGeom>
          <a:solidFill>
            <a:srgbClr val="121A2E"/>
          </a:solidFill>
          <a:ln w="9525">
            <a:solidFill>
              <a:srgbClr val="2A3555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972050" y="2103120"/>
            <a:ext cx="365760" cy="365760"/>
          </a:xfrm>
          <a:prstGeom prst="ellipse">
            <a:avLst/>
          </a:prstGeom>
          <a:solidFill>
            <a:srgbClr val="2DD4BF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4972050" y="210312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A0F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24" name="Text 22"/>
          <p:cNvSpPr txBox="1"/>
          <p:nvPr/>
        </p:nvSpPr>
        <p:spPr>
          <a:xfrm>
            <a:off x="4361688" y="2532888"/>
            <a:ext cx="158648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3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INTERVENTION</a:t>
            </a:r>
            <a:endParaRPr lang="en-US" sz="930" dirty="0"/>
          </a:p>
        </p:txBody>
      </p:sp>
      <p:sp>
        <p:nvSpPr>
          <p:cNvPr id="25" name="Text 23"/>
          <p:cNvSpPr txBox="1"/>
          <p:nvPr/>
        </p:nvSpPr>
        <p:spPr>
          <a:xfrm>
            <a:off x="6012180" y="2221992"/>
            <a:ext cx="1645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B7A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6185916" y="1965960"/>
            <a:ext cx="1696212" cy="1051560"/>
          </a:xfrm>
          <a:prstGeom prst="roundRect">
            <a:avLst>
              <a:gd name="adj" fmla="val 7826"/>
            </a:avLst>
          </a:prstGeom>
          <a:solidFill>
            <a:srgbClr val="121A2E"/>
          </a:solidFill>
          <a:ln w="9525">
            <a:solidFill>
              <a:srgbClr val="2A3555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6851142" y="2103120"/>
            <a:ext cx="365760" cy="365760"/>
          </a:xfrm>
          <a:prstGeom prst="ellipse">
            <a:avLst/>
          </a:prstGeom>
          <a:solidFill>
            <a:srgbClr val="F5A623"/>
          </a:solidFill>
          <a:ln/>
        </p:spPr>
      </p:sp>
      <p:sp>
        <p:nvSpPr>
          <p:cNvPr id="28" name="Text 26"/>
          <p:cNvSpPr txBox="1"/>
          <p:nvPr/>
        </p:nvSpPr>
        <p:spPr>
          <a:xfrm>
            <a:off x="6851142" y="210312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A0F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29" name="Text 27"/>
          <p:cNvSpPr txBox="1"/>
          <p:nvPr/>
        </p:nvSpPr>
        <p:spPr>
          <a:xfrm>
            <a:off x="6240780" y="2532888"/>
            <a:ext cx="158648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3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POLICY</a:t>
            </a:r>
            <a:endParaRPr lang="en-US" sz="930" dirty="0"/>
          </a:p>
        </p:txBody>
      </p:sp>
      <p:sp>
        <p:nvSpPr>
          <p:cNvPr id="30" name="Text 28"/>
          <p:cNvSpPr txBox="1"/>
          <p:nvPr/>
        </p:nvSpPr>
        <p:spPr>
          <a:xfrm>
            <a:off x="7891272" y="2221992"/>
            <a:ext cx="1645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B7A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8065008" y="1965960"/>
            <a:ext cx="1696212" cy="1051560"/>
          </a:xfrm>
          <a:prstGeom prst="roundRect">
            <a:avLst>
              <a:gd name="adj" fmla="val 7826"/>
            </a:avLst>
          </a:prstGeom>
          <a:solidFill>
            <a:srgbClr val="121A2E"/>
          </a:solidFill>
          <a:ln w="9525">
            <a:solidFill>
              <a:srgbClr val="2A3555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8730234" y="2103120"/>
            <a:ext cx="365760" cy="365760"/>
          </a:xfrm>
          <a:prstGeom prst="ellipse">
            <a:avLst/>
          </a:prstGeom>
          <a:solidFill>
            <a:srgbClr val="34D399"/>
          </a:solidFill>
          <a:ln/>
        </p:spPr>
      </p:sp>
      <p:sp>
        <p:nvSpPr>
          <p:cNvPr id="33" name="Text 31"/>
          <p:cNvSpPr txBox="1"/>
          <p:nvPr/>
        </p:nvSpPr>
        <p:spPr>
          <a:xfrm>
            <a:off x="8730234" y="210312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A0F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200" dirty="0"/>
          </a:p>
        </p:txBody>
      </p:sp>
      <p:sp>
        <p:nvSpPr>
          <p:cNvPr id="34" name="Text 32"/>
          <p:cNvSpPr txBox="1"/>
          <p:nvPr/>
        </p:nvSpPr>
        <p:spPr>
          <a:xfrm>
            <a:off x="8119872" y="2532888"/>
            <a:ext cx="158648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3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AUTOMATION /</a:t>
            </a:r>
            <a:endParaRPr lang="en-US" sz="930" dirty="0"/>
          </a:p>
          <a:p>
            <a:pPr algn="ctr" indent="0" marL="0">
              <a:buNone/>
            </a:pPr>
            <a:r>
              <a:rPr lang="en-US" sz="93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 REVIEW</a:t>
            </a:r>
            <a:endParaRPr lang="en-US" sz="930" dirty="0"/>
          </a:p>
        </p:txBody>
      </p:sp>
      <p:sp>
        <p:nvSpPr>
          <p:cNvPr id="35" name="Text 33"/>
          <p:cNvSpPr txBox="1"/>
          <p:nvPr/>
        </p:nvSpPr>
        <p:spPr>
          <a:xfrm>
            <a:off x="9770364" y="2221992"/>
            <a:ext cx="1645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B7A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200" dirty="0"/>
          </a:p>
        </p:txBody>
      </p:sp>
      <p:sp>
        <p:nvSpPr>
          <p:cNvPr id="36" name="Shape 34"/>
          <p:cNvSpPr/>
          <p:nvPr/>
        </p:nvSpPr>
        <p:spPr>
          <a:xfrm>
            <a:off x="9944100" y="1965960"/>
            <a:ext cx="1696212" cy="1051560"/>
          </a:xfrm>
          <a:prstGeom prst="roundRect">
            <a:avLst>
              <a:gd name="adj" fmla="val 7826"/>
            </a:avLst>
          </a:prstGeom>
          <a:solidFill>
            <a:srgbClr val="121A2E"/>
          </a:solidFill>
          <a:ln w="9525">
            <a:solidFill>
              <a:srgbClr val="2A3555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10609326" y="2103120"/>
            <a:ext cx="365760" cy="365760"/>
          </a:xfrm>
          <a:prstGeom prst="ellipse">
            <a:avLst/>
          </a:prstGeom>
          <a:solidFill>
            <a:srgbClr val="9BA8C4"/>
          </a:solidFill>
          <a:ln/>
        </p:spPr>
      </p:sp>
      <p:sp>
        <p:nvSpPr>
          <p:cNvPr id="38" name="Text 36"/>
          <p:cNvSpPr txBox="1"/>
          <p:nvPr/>
        </p:nvSpPr>
        <p:spPr>
          <a:xfrm>
            <a:off x="10609326" y="210312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A0F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200" dirty="0"/>
          </a:p>
        </p:txBody>
      </p:sp>
      <p:sp>
        <p:nvSpPr>
          <p:cNvPr id="39" name="Text 37"/>
          <p:cNvSpPr txBox="1"/>
          <p:nvPr/>
        </p:nvSpPr>
        <p:spPr>
          <a:xfrm>
            <a:off x="9998964" y="2532888"/>
            <a:ext cx="158648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3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</a:t>
            </a:r>
            <a:endParaRPr lang="en-US" sz="930" dirty="0"/>
          </a:p>
        </p:txBody>
      </p:sp>
      <p:sp>
        <p:nvSpPr>
          <p:cNvPr id="40" name="Text 38"/>
          <p:cNvSpPr txBox="1"/>
          <p:nvPr/>
        </p:nvSpPr>
        <p:spPr>
          <a:xfrm>
            <a:off x="0" y="3520440"/>
            <a:ext cx="1219169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000" b="1" spc="300" kern="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RECOVERAI</a:t>
            </a:r>
            <a:endParaRPr lang="en-US" sz="5000" dirty="0"/>
          </a:p>
        </p:txBody>
      </p:sp>
      <p:sp>
        <p:nvSpPr>
          <p:cNvPr id="41" name="Text 39"/>
          <p:cNvSpPr txBox="1"/>
          <p:nvPr/>
        </p:nvSpPr>
        <p:spPr>
          <a:xfrm>
            <a:off x="0" y="4343400"/>
            <a:ext cx="121916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AI-powered payment recovery decision engine</a:t>
            </a:r>
            <a:endParaRPr lang="en-US" sz="1400" dirty="0"/>
          </a:p>
        </p:txBody>
      </p:sp>
      <p:sp>
        <p:nvSpPr>
          <p:cNvPr id="42" name="Shape 40"/>
          <p:cNvSpPr/>
          <p:nvPr/>
        </p:nvSpPr>
        <p:spPr>
          <a:xfrm>
            <a:off x="1984248" y="5074920"/>
            <a:ext cx="8229600" cy="1097280"/>
          </a:xfrm>
          <a:prstGeom prst="roundRect">
            <a:avLst>
              <a:gd name="adj" fmla="val 7500"/>
            </a:avLst>
          </a:prstGeom>
          <a:solidFill>
            <a:srgbClr val="182140"/>
          </a:solidFill>
          <a:ln w="9525">
            <a:solidFill>
              <a:srgbClr val="2A3555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43" name="Text 41"/>
          <p:cNvSpPr txBox="1"/>
          <p:nvPr/>
        </p:nvSpPr>
        <p:spPr>
          <a:xfrm>
            <a:off x="2258568" y="5074920"/>
            <a:ext cx="76809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400" i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“Not just an AI prediction system. An AI-assisted decision engine built around</a:t>
            </a:r>
            <a:endParaRPr lang="en-US" sz="140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1400" i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recovery economics, safety, and auditability.”</a:t>
            </a:r>
            <a:endParaRPr lang="en-US" sz="1400" dirty="0"/>
          </a:p>
        </p:txBody>
      </p:sp>
      <p:sp>
        <p:nvSpPr>
          <p:cNvPr id="44" name="Text 42"/>
          <p:cNvSpPr txBox="1"/>
          <p:nvPr/>
        </p:nvSpPr>
        <p:spPr>
          <a:xfrm>
            <a:off x="0" y="6473952"/>
            <a:ext cx="121916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150" kern="0" dirty="0">
                <a:solidFill>
                  <a:srgbClr val="6B7A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RECOVERAI  ·  RAZORPAY AI BUILDATHON 2026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RecoverAI - AI-Powered Payment Recovery Decision Engine</dc:title>
  <dc:subject>PptxGenJS Presentation</dc:subject>
  <dc:creator>RecoverAI</dc:creator>
  <cp:lastModifiedBy>RecoverAI</cp:lastModifiedBy>
  <cp:revision>1</cp:revision>
  <dcterms:created xsi:type="dcterms:W3CDTF">2026-09-03T19:14:57Z</dcterms:created>
  <dcterms:modified xsi:type="dcterms:W3CDTF">2026-09-03T19:14:57Z</dcterms:modified>
</cp:coreProperties>
</file>